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1463040"/>
            <a:ext cx="502920" cy="41148"/>
          </a:xfrm>
          <a:prstGeom prst="rect">
            <a:avLst/>
          </a:prstGeom>
          <a:solidFill>
            <a:srgbClr val="006B3F"/>
          </a:solidFill>
          <a:ln/>
        </p:spPr>
      </p:sp>
      <p:sp>
        <p:nvSpPr>
          <p:cNvPr id="3" name="Shape 1"/>
          <p:cNvSpPr/>
          <p:nvPr/>
        </p:nvSpPr>
        <p:spPr>
          <a:xfrm>
            <a:off x="1188720" y="1463040"/>
            <a:ext cx="502920" cy="41148"/>
          </a:xfrm>
          <a:prstGeom prst="rect">
            <a:avLst/>
          </a:prstGeom>
          <a:solidFill>
            <a:srgbClr val="C8102E"/>
          </a:solidFill>
          <a:ln/>
        </p:spPr>
      </p:sp>
      <p:sp>
        <p:nvSpPr>
          <p:cNvPr id="4" name="Shape 2"/>
          <p:cNvSpPr/>
          <p:nvPr/>
        </p:nvSpPr>
        <p:spPr>
          <a:xfrm>
            <a:off x="1737360" y="1463040"/>
            <a:ext cx="502920" cy="41148"/>
          </a:xfrm>
          <a:prstGeom prst="rect">
            <a:avLst/>
          </a:prstGeom>
          <a:solidFill>
            <a:srgbClr val="006B3F"/>
          </a:solidFill>
          <a:ln/>
        </p:spPr>
      </p:sp>
      <p:sp>
        <p:nvSpPr>
          <p:cNvPr id="5" name="Text 3"/>
          <p:cNvSpPr/>
          <p:nvPr/>
        </p:nvSpPr>
        <p:spPr>
          <a:xfrm>
            <a:off x="640080" y="914400"/>
            <a:ext cx="7863840" cy="365760"/>
          </a:xfrm>
          <a:prstGeom prst="rect">
            <a:avLst/>
          </a:prstGeom>
          <a:noFill/>
          <a:ln/>
        </p:spPr>
        <p:txBody>
          <a:bodyPr wrap="square" lIns="0" tIns="0" rIns="0" bIns="0" rtlCol="0" anchor="ctr"/>
          <a:lstStyle/>
          <a:p>
            <a:pPr indent="0" marL="0">
              <a:buNone/>
            </a:pPr>
            <a:r>
              <a:rPr lang="en-US" sz="1100" spc="300" kern="0" dirty="0">
                <a:solidFill>
                  <a:srgbClr val="D4AF37"/>
                </a:solidFill>
                <a:latin typeface="Calibri" pitchFamily="34" charset="0"/>
                <a:ea typeface="Calibri" pitchFamily="34" charset="-122"/>
                <a:cs typeface="Calibri" pitchFamily="34" charset="-120"/>
              </a:rPr>
              <a:t>MKT 397.4  ·  Marketing Research Methods</a:t>
            </a:r>
            <a:endParaRPr lang="en-US" sz="1100" dirty="0"/>
          </a:p>
        </p:txBody>
      </p:sp>
      <p:sp>
        <p:nvSpPr>
          <p:cNvPr id="6" name="Text 4"/>
          <p:cNvSpPr/>
          <p:nvPr/>
        </p:nvSpPr>
        <p:spPr>
          <a:xfrm>
            <a:off x="640080" y="1691640"/>
            <a:ext cx="7863840" cy="1280160"/>
          </a:xfrm>
          <a:prstGeom prst="rect">
            <a:avLst/>
          </a:prstGeom>
          <a:noFill/>
          <a:ln/>
        </p:spPr>
        <p:txBody>
          <a:bodyPr wrap="square" lIns="0" tIns="0" rIns="0" bIns="0" rtlCol="0" anchor="ctr"/>
          <a:lstStyle/>
          <a:p>
            <a:pPr indent="0" marL="0">
              <a:lnSpc>
                <a:spcPct val="110000"/>
              </a:lnSpc>
              <a:buNone/>
            </a:pPr>
            <a:r>
              <a:rPr lang="en-US" sz="3600" dirty="0">
                <a:solidFill>
                  <a:srgbClr val="FFFFFF"/>
                </a:solidFill>
                <a:latin typeface="Georgia" pitchFamily="34" charset="0"/>
                <a:ea typeface="Georgia" pitchFamily="34" charset="-122"/>
                <a:cs typeface="Georgia" pitchFamily="34" charset="-120"/>
              </a:rPr>
              <a:t>AI–Human Hybrids for</a:t>
            </a:r>
            <a:endParaRPr lang="en-US" sz="3600" dirty="0"/>
          </a:p>
          <a:p>
            <a:pPr indent="0" marL="0">
              <a:lnSpc>
                <a:spcPct val="110000"/>
              </a:lnSpc>
              <a:buNone/>
            </a:pPr>
            <a:r>
              <a:rPr lang="en-US" sz="3600" dirty="0">
                <a:solidFill>
                  <a:srgbClr val="FFFFFF"/>
                </a:solidFill>
                <a:latin typeface="Georgia" pitchFamily="34" charset="0"/>
                <a:ea typeface="Georgia" pitchFamily="34" charset="-122"/>
                <a:cs typeface="Georgia" pitchFamily="34" charset="-120"/>
              </a:rPr>
              <a:t>Marketing Research</a:t>
            </a:r>
            <a:endParaRPr lang="en-US" sz="3600" dirty="0"/>
          </a:p>
        </p:txBody>
      </p:sp>
      <p:sp>
        <p:nvSpPr>
          <p:cNvPr id="7" name="Text 5"/>
          <p:cNvSpPr/>
          <p:nvPr/>
        </p:nvSpPr>
        <p:spPr>
          <a:xfrm>
            <a:off x="640080" y="3017520"/>
            <a:ext cx="7863840" cy="411480"/>
          </a:xfrm>
          <a:prstGeom prst="rect">
            <a:avLst/>
          </a:prstGeom>
          <a:noFill/>
          <a:ln/>
        </p:spPr>
        <p:txBody>
          <a:bodyPr wrap="square" lIns="0" tIns="0" rIns="0" bIns="0" rtlCol="0" anchor="ctr"/>
          <a:lstStyle/>
          <a:p>
            <a:pPr indent="0" marL="0">
              <a:buNone/>
            </a:pPr>
            <a:r>
              <a:rPr lang="en-US" sz="1600" i="1" dirty="0">
                <a:solidFill>
                  <a:srgbClr val="AEAEB2"/>
                </a:solidFill>
                <a:latin typeface="Georgia" pitchFamily="34" charset="0"/>
                <a:ea typeface="Georgia" pitchFamily="34" charset="-122"/>
                <a:cs typeface="Georgia" pitchFamily="34" charset="-120"/>
              </a:rPr>
              <a:t>Leveraging Large Language Models as Collaborators</a:t>
            </a:r>
            <a:endParaRPr lang="en-US" sz="1600" dirty="0"/>
          </a:p>
        </p:txBody>
      </p:sp>
      <p:sp>
        <p:nvSpPr>
          <p:cNvPr id="8" name="Shape 6"/>
          <p:cNvSpPr/>
          <p:nvPr/>
        </p:nvSpPr>
        <p:spPr>
          <a:xfrm>
            <a:off x="640080" y="3657600"/>
            <a:ext cx="2286000" cy="0"/>
          </a:xfrm>
          <a:prstGeom prst="line">
            <a:avLst/>
          </a:prstGeom>
          <a:noFill/>
          <a:ln w="12700">
            <a:solidFill>
              <a:srgbClr val="D4AF37"/>
            </a:solidFill>
            <a:prstDash val="solid"/>
          </a:ln>
        </p:spPr>
      </p:sp>
      <p:sp>
        <p:nvSpPr>
          <p:cNvPr id="9" name="Text 7"/>
          <p:cNvSpPr/>
          <p:nvPr/>
        </p:nvSpPr>
        <p:spPr>
          <a:xfrm>
            <a:off x="640080" y="3840480"/>
            <a:ext cx="4572000" cy="548640"/>
          </a:xfrm>
          <a:prstGeom prst="rect">
            <a:avLst/>
          </a:prstGeom>
          <a:noFill/>
          <a:ln/>
        </p:spPr>
        <p:txBody>
          <a:bodyPr wrap="square" lIns="0" tIns="0" rIns="0" bIns="0" rtlCol="0" anchor="ctr"/>
          <a:lstStyle/>
          <a:p>
            <a:pPr indent="0" marL="0">
              <a:buNone/>
            </a:pPr>
            <a:r>
              <a:rPr lang="en-US" sz="1200" dirty="0">
                <a:solidFill>
                  <a:srgbClr val="636366"/>
                </a:solidFill>
                <a:latin typeface="Calibri" pitchFamily="34" charset="0"/>
                <a:ea typeface="Calibri" pitchFamily="34" charset="-122"/>
                <a:cs typeface="Calibri" pitchFamily="34" charset="-120"/>
              </a:rPr>
              <a:t>Arora, Chakraborty &amp; Nishimura (2025)</a:t>
            </a:r>
            <a:endParaRPr lang="en-US" sz="1200" dirty="0"/>
          </a:p>
          <a:p>
            <a:pPr indent="0" marL="0">
              <a:buNone/>
            </a:pPr>
            <a:r>
              <a:rPr lang="en-US" sz="1200" dirty="0">
                <a:solidFill>
                  <a:srgbClr val="636366"/>
                </a:solidFill>
                <a:latin typeface="Calibri" pitchFamily="34" charset="0"/>
                <a:ea typeface="Calibri" pitchFamily="34" charset="-122"/>
                <a:cs typeface="Calibri" pitchFamily="34" charset="-120"/>
              </a:rPr>
              <a:t>Journal of Marketing, 89(2), 43–70</a:t>
            </a:r>
            <a:endParaRPr lang="en-US" sz="1200" dirty="0"/>
          </a:p>
        </p:txBody>
      </p:sp>
      <p:sp>
        <p:nvSpPr>
          <p:cNvPr id="10" name="Text 8"/>
          <p:cNvSpPr/>
          <p:nvPr/>
        </p:nvSpPr>
        <p:spPr>
          <a:xfrm>
            <a:off x="5943600" y="4206240"/>
            <a:ext cx="2743200" cy="548640"/>
          </a:xfrm>
          <a:prstGeom prst="rect">
            <a:avLst/>
          </a:prstGeom>
          <a:noFill/>
          <a:ln/>
        </p:spPr>
        <p:txBody>
          <a:bodyPr wrap="square" lIns="0" tIns="0" rIns="0" bIns="0" rtlCol="0" anchor="ctr"/>
          <a:lstStyle/>
          <a:p>
            <a:pPr algn="r" indent="0" marL="0">
              <a:buNone/>
            </a:pPr>
            <a:r>
              <a:rPr lang="en-US" sz="1100" dirty="0">
                <a:solidFill>
                  <a:srgbClr val="AEAEB2"/>
                </a:solidFill>
                <a:latin typeface="Calibri" pitchFamily="34" charset="0"/>
                <a:ea typeface="Calibri" pitchFamily="34" charset="-122"/>
                <a:cs typeface="Calibri" pitchFamily="34" charset="-120"/>
              </a:rPr>
              <a:t>Presented by Bella Kang</a:t>
            </a:r>
            <a:endParaRPr lang="en-US" sz="1100" dirty="0"/>
          </a:p>
          <a:p>
            <a:pPr algn="r" indent="0" marL="0">
              <a:buNone/>
            </a:pPr>
            <a:r>
              <a:rPr lang="en-US" sz="1100" dirty="0">
                <a:solidFill>
                  <a:srgbClr val="AEAEB2"/>
                </a:solidFill>
                <a:latin typeface="Calibri" pitchFamily="34" charset="0"/>
                <a:ea typeface="Calibri" pitchFamily="34" charset="-122"/>
                <a:cs typeface="Calibri" pitchFamily="34" charset="-120"/>
              </a:rPr>
              <a:t>February 26,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2743200" cy="320040"/>
          </a:xfrm>
          <a:prstGeom prst="rect">
            <a:avLst/>
          </a:prstGeom>
          <a:noFill/>
          <a:ln/>
        </p:spPr>
        <p:txBody>
          <a:bodyPr wrap="square" lIns="0" tIns="0" rIns="0" bIns="0" rtlCol="0" anchor="ctr"/>
          <a:lstStyle/>
          <a:p>
            <a:pPr indent="0" marL="0">
              <a:buNone/>
            </a:pPr>
            <a:r>
              <a:rPr lang="en-US" sz="1000" b="1" spc="400" kern="0" dirty="0">
                <a:solidFill>
                  <a:srgbClr val="D4AF37"/>
                </a:solidFill>
                <a:latin typeface="Calibri" pitchFamily="34" charset="0"/>
                <a:ea typeface="Calibri" pitchFamily="34" charset="-122"/>
                <a:cs typeface="Calibri" pitchFamily="34" charset="-120"/>
              </a:rPr>
              <a:t>THE BIG IDEA</a:t>
            </a:r>
            <a:endParaRPr lang="en-US" sz="1000" dirty="0"/>
          </a:p>
        </p:txBody>
      </p:sp>
      <p:sp>
        <p:nvSpPr>
          <p:cNvPr id="3" name="Shape 1"/>
          <p:cNvSpPr/>
          <p:nvPr/>
        </p:nvSpPr>
        <p:spPr>
          <a:xfrm>
            <a:off x="2194560" y="475488"/>
            <a:ext cx="365760" cy="32004"/>
          </a:xfrm>
          <a:prstGeom prst="rect">
            <a:avLst/>
          </a:prstGeom>
          <a:solidFill>
            <a:srgbClr val="006B3F"/>
          </a:solidFill>
          <a:ln/>
        </p:spPr>
      </p:sp>
      <p:sp>
        <p:nvSpPr>
          <p:cNvPr id="4" name="Shape 2"/>
          <p:cNvSpPr/>
          <p:nvPr/>
        </p:nvSpPr>
        <p:spPr>
          <a:xfrm>
            <a:off x="2606040" y="475488"/>
            <a:ext cx="365760" cy="32004"/>
          </a:xfrm>
          <a:prstGeom prst="rect">
            <a:avLst/>
          </a:prstGeom>
          <a:solidFill>
            <a:srgbClr val="C8102E"/>
          </a:solidFill>
          <a:ln/>
        </p:spPr>
      </p:sp>
      <p:sp>
        <p:nvSpPr>
          <p:cNvPr id="5" name="Shape 3"/>
          <p:cNvSpPr/>
          <p:nvPr/>
        </p:nvSpPr>
        <p:spPr>
          <a:xfrm>
            <a:off x="3017520" y="475488"/>
            <a:ext cx="365760" cy="32004"/>
          </a:xfrm>
          <a:prstGeom prst="rect">
            <a:avLst/>
          </a:prstGeom>
          <a:solidFill>
            <a:srgbClr val="006B3F"/>
          </a:solidFill>
          <a:ln/>
        </p:spPr>
      </p:sp>
      <p:sp>
        <p:nvSpPr>
          <p:cNvPr id="6" name="Text 4"/>
          <p:cNvSpPr/>
          <p:nvPr/>
        </p:nvSpPr>
        <p:spPr>
          <a:xfrm>
            <a:off x="640080" y="822960"/>
            <a:ext cx="7863840" cy="640080"/>
          </a:xfrm>
          <a:prstGeom prst="rect">
            <a:avLst/>
          </a:prstGeom>
          <a:noFill/>
          <a:ln/>
        </p:spPr>
        <p:txBody>
          <a:bodyPr wrap="square" lIns="0" tIns="0" rIns="0" bIns="0" rtlCol="0" anchor="ctr"/>
          <a:lstStyle/>
          <a:p>
            <a:pPr indent="0" marL="0">
              <a:buNone/>
            </a:pPr>
            <a:r>
              <a:rPr lang="en-US" sz="2600" dirty="0">
                <a:solidFill>
                  <a:srgbClr val="1D1D1F"/>
                </a:solidFill>
                <a:latin typeface="Georgia" pitchFamily="34" charset="0"/>
                <a:ea typeface="Georgia" pitchFamily="34" charset="-122"/>
                <a:cs typeface="Georgia" pitchFamily="34" charset="-120"/>
              </a:rPr>
              <a:t>Human + LLM &gt; Human alone or LLM alone</a:t>
            </a:r>
            <a:endParaRPr lang="en-US" sz="2600" dirty="0"/>
          </a:p>
        </p:txBody>
      </p:sp>
      <p:sp>
        <p:nvSpPr>
          <p:cNvPr id="7" name="Text 5"/>
          <p:cNvSpPr/>
          <p:nvPr/>
        </p:nvSpPr>
        <p:spPr>
          <a:xfrm>
            <a:off x="640080" y="1508760"/>
            <a:ext cx="7863840" cy="640080"/>
          </a:xfrm>
          <a:prstGeom prst="rect">
            <a:avLst/>
          </a:prstGeom>
          <a:noFill/>
          <a:ln/>
        </p:spPr>
        <p:txBody>
          <a:bodyPr wrap="square" lIns="0" tIns="0" rIns="0" bIns="0" rtlCol="0" anchor="ctr"/>
          <a:lstStyle/>
          <a:p>
            <a:pPr indent="0" marL="0">
              <a:buNone/>
            </a:pPr>
            <a:r>
              <a:rPr lang="en-US" sz="1400" dirty="0">
                <a:solidFill>
                  <a:srgbClr val="636366"/>
                </a:solidFill>
                <a:latin typeface="Calibri" pitchFamily="34" charset="0"/>
                <a:ea typeface="Calibri" pitchFamily="34" charset="-122"/>
                <a:cs typeface="Calibri" pitchFamily="34" charset="-120"/>
              </a:rPr>
              <a:t>The paper systematically tests where LLMs add value in the marketing research process — and finds that the hybrid consistently outperforms either approach used in isolation.</a:t>
            </a:r>
            <a:endParaRPr lang="en-US" sz="1400" dirty="0"/>
          </a:p>
        </p:txBody>
      </p:sp>
      <p:sp>
        <p:nvSpPr>
          <p:cNvPr id="8" name="Shape 6"/>
          <p:cNvSpPr/>
          <p:nvPr/>
        </p:nvSpPr>
        <p:spPr>
          <a:xfrm>
            <a:off x="640080" y="2377440"/>
            <a:ext cx="2606040" cy="2377440"/>
          </a:xfrm>
          <a:prstGeom prst="rect">
            <a:avLst/>
          </a:prstGeom>
          <a:solidFill>
            <a:srgbClr val="F2F2F7"/>
          </a:solidFill>
          <a:ln/>
          <a:effectLst>
            <a:outerShdw sx="100000" sy="100000" kx="0" ky="0" algn="bl" rotWithShape="0" blurRad="101600" dist="38100" dir="8100000">
              <a:srgbClr val="000000">
                <a:alpha val="8000"/>
              </a:srgbClr>
            </a:outerShdw>
          </a:effectLst>
        </p:spPr>
      </p:sp>
      <p:sp>
        <p:nvSpPr>
          <p:cNvPr id="9" name="Shape 7"/>
          <p:cNvSpPr/>
          <p:nvPr/>
        </p:nvSpPr>
        <p:spPr>
          <a:xfrm>
            <a:off x="640080" y="2377440"/>
            <a:ext cx="54864" cy="2377440"/>
          </a:xfrm>
          <a:prstGeom prst="rect">
            <a:avLst/>
          </a:prstGeom>
          <a:solidFill>
            <a:srgbClr val="006B3F"/>
          </a:solidFill>
          <a:ln/>
        </p:spPr>
      </p:sp>
      <p:pic>
        <p:nvPicPr>
          <p:cNvPr id="10" name="Image 0" descr="preencoded.png">    </p:cNvPr>
          <p:cNvPicPr>
            <a:picLocks noChangeAspect="1"/>
          </p:cNvPicPr>
          <p:nvPr/>
        </p:nvPicPr>
        <p:blipFill>
          <a:blip r:embed="rId1"/>
          <a:stretch>
            <a:fillRect/>
          </a:stretch>
        </p:blipFill>
        <p:spPr>
          <a:xfrm>
            <a:off x="868680" y="2606040"/>
            <a:ext cx="320040" cy="320040"/>
          </a:xfrm>
          <a:prstGeom prst="rect">
            <a:avLst/>
          </a:prstGeom>
        </p:spPr>
      </p:pic>
      <p:sp>
        <p:nvSpPr>
          <p:cNvPr id="11" name="Text 8"/>
          <p:cNvSpPr/>
          <p:nvPr/>
        </p:nvSpPr>
        <p:spPr>
          <a:xfrm>
            <a:off x="1298448" y="2606040"/>
            <a:ext cx="1645920" cy="320040"/>
          </a:xfrm>
          <a:prstGeom prst="rect">
            <a:avLst/>
          </a:prstGeom>
          <a:noFill/>
          <a:ln/>
        </p:spPr>
        <p:txBody>
          <a:bodyPr wrap="square" lIns="0" tIns="0" rIns="0" bIns="0" rtlCol="0" anchor="ctr"/>
          <a:lstStyle/>
          <a:p>
            <a:pPr indent="0" marL="0">
              <a:buNone/>
            </a:pPr>
            <a:r>
              <a:rPr lang="en-US" sz="900" b="1" spc="300" kern="0" dirty="0">
                <a:solidFill>
                  <a:srgbClr val="006B3F"/>
                </a:solidFill>
                <a:latin typeface="Calibri" pitchFamily="34" charset="0"/>
                <a:ea typeface="Calibri" pitchFamily="34" charset="-122"/>
                <a:cs typeface="Calibri" pitchFamily="34" charset="-120"/>
              </a:rPr>
              <a:t>QUALITATIVE</a:t>
            </a:r>
            <a:endParaRPr lang="en-US" sz="900" dirty="0"/>
          </a:p>
        </p:txBody>
      </p:sp>
      <p:sp>
        <p:nvSpPr>
          <p:cNvPr id="12" name="Text 9"/>
          <p:cNvSpPr/>
          <p:nvPr/>
        </p:nvSpPr>
        <p:spPr>
          <a:xfrm>
            <a:off x="868680" y="3063240"/>
            <a:ext cx="2148840" cy="365760"/>
          </a:xfrm>
          <a:prstGeom prst="rect">
            <a:avLst/>
          </a:prstGeom>
          <a:noFill/>
          <a:ln/>
        </p:spPr>
        <p:txBody>
          <a:bodyPr wrap="square" lIns="0" tIns="0" rIns="0" bIns="0" rtlCol="0" anchor="ctr"/>
          <a:lstStyle/>
          <a:p>
            <a:pPr indent="0" marL="0">
              <a:buNone/>
            </a:pPr>
            <a:r>
              <a:rPr lang="en-US" sz="1400" dirty="0">
                <a:solidFill>
                  <a:srgbClr val="1D1D1F"/>
                </a:solidFill>
                <a:latin typeface="Georgia" pitchFamily="34" charset="0"/>
                <a:ea typeface="Georgia" pitchFamily="34" charset="-122"/>
                <a:cs typeface="Georgia" pitchFamily="34" charset="-120"/>
              </a:rPr>
              <a:t>Study 1: In-Depth Interviews</a:t>
            </a:r>
            <a:endParaRPr lang="en-US" sz="1400" dirty="0"/>
          </a:p>
        </p:txBody>
      </p:sp>
      <p:sp>
        <p:nvSpPr>
          <p:cNvPr id="13" name="Text 10"/>
          <p:cNvSpPr/>
          <p:nvPr/>
        </p:nvSpPr>
        <p:spPr>
          <a:xfrm>
            <a:off x="868680" y="3474720"/>
            <a:ext cx="2148840" cy="1051560"/>
          </a:xfrm>
          <a:prstGeom prst="rect">
            <a:avLst/>
          </a:prstGeom>
          <a:noFill/>
          <a:ln/>
        </p:spPr>
        <p:txBody>
          <a:bodyPr wrap="square" lIns="0" tIns="0" rIns="0" bIns="0" rtlCol="0" anchor="ctr"/>
          <a:lstStyle/>
          <a:p>
            <a:pPr indent="0" marL="0">
              <a:lnSpc>
                <a:spcPct val="130000"/>
              </a:lnSpc>
              <a:buNone/>
            </a:pPr>
            <a:r>
              <a:rPr lang="en-US" sz="1150" dirty="0">
                <a:solidFill>
                  <a:srgbClr val="636366"/>
                </a:solidFill>
                <a:latin typeface="Calibri" pitchFamily="34" charset="0"/>
                <a:ea typeface="Calibri" pitchFamily="34" charset="-122"/>
                <a:cs typeface="Calibri" pitchFamily="34" charset="-120"/>
              </a:rPr>
              <a:t>Friendsgiving context with Fortune 500 food company. LLM-generated data surpasses humans in depth and insightfulness.</a:t>
            </a:r>
            <a:endParaRPr lang="en-US" sz="1150" dirty="0"/>
          </a:p>
        </p:txBody>
      </p:sp>
      <p:sp>
        <p:nvSpPr>
          <p:cNvPr id="14" name="Shape 11"/>
          <p:cNvSpPr/>
          <p:nvPr/>
        </p:nvSpPr>
        <p:spPr>
          <a:xfrm>
            <a:off x="3429000" y="2377440"/>
            <a:ext cx="2606040" cy="2377440"/>
          </a:xfrm>
          <a:prstGeom prst="rect">
            <a:avLst/>
          </a:prstGeom>
          <a:solidFill>
            <a:srgbClr val="F2F2F7"/>
          </a:solidFill>
          <a:ln/>
          <a:effectLst>
            <a:outerShdw sx="100000" sy="100000" kx="0" ky="0" algn="bl" rotWithShape="0" blurRad="101600" dist="38100" dir="8100000">
              <a:srgbClr val="000000">
                <a:alpha val="8000"/>
              </a:srgbClr>
            </a:outerShdw>
          </a:effectLst>
        </p:spPr>
      </p:sp>
      <p:sp>
        <p:nvSpPr>
          <p:cNvPr id="15" name="Shape 12"/>
          <p:cNvSpPr/>
          <p:nvPr/>
        </p:nvSpPr>
        <p:spPr>
          <a:xfrm>
            <a:off x="3429000" y="2377440"/>
            <a:ext cx="54864" cy="2377440"/>
          </a:xfrm>
          <a:prstGeom prst="rect">
            <a:avLst/>
          </a:prstGeom>
          <a:solidFill>
            <a:srgbClr val="C8102E"/>
          </a:solidFill>
          <a:ln/>
        </p:spPr>
      </p:sp>
      <p:pic>
        <p:nvPicPr>
          <p:cNvPr id="16" name="Image 1" descr="preencoded.png">    </p:cNvPr>
          <p:cNvPicPr>
            <a:picLocks noChangeAspect="1"/>
          </p:cNvPicPr>
          <p:nvPr/>
        </p:nvPicPr>
        <p:blipFill>
          <a:blip r:embed="rId2"/>
          <a:stretch>
            <a:fillRect/>
          </a:stretch>
        </p:blipFill>
        <p:spPr>
          <a:xfrm>
            <a:off x="3657600" y="2606040"/>
            <a:ext cx="320040" cy="320040"/>
          </a:xfrm>
          <a:prstGeom prst="rect">
            <a:avLst/>
          </a:prstGeom>
        </p:spPr>
      </p:pic>
      <p:sp>
        <p:nvSpPr>
          <p:cNvPr id="17" name="Text 13"/>
          <p:cNvSpPr/>
          <p:nvPr/>
        </p:nvSpPr>
        <p:spPr>
          <a:xfrm>
            <a:off x="4087368" y="2606040"/>
            <a:ext cx="1645920" cy="320040"/>
          </a:xfrm>
          <a:prstGeom prst="rect">
            <a:avLst/>
          </a:prstGeom>
          <a:noFill/>
          <a:ln/>
        </p:spPr>
        <p:txBody>
          <a:bodyPr wrap="square" lIns="0" tIns="0" rIns="0" bIns="0" rtlCol="0" anchor="ctr"/>
          <a:lstStyle/>
          <a:p>
            <a:pPr indent="0" marL="0">
              <a:buNone/>
            </a:pPr>
            <a:r>
              <a:rPr lang="en-US" sz="900" b="1" spc="300" kern="0" dirty="0">
                <a:solidFill>
                  <a:srgbClr val="C8102E"/>
                </a:solidFill>
                <a:latin typeface="Calibri" pitchFamily="34" charset="0"/>
                <a:ea typeface="Calibri" pitchFamily="34" charset="-122"/>
                <a:cs typeface="Calibri" pitchFamily="34" charset="-120"/>
              </a:rPr>
              <a:t>QUANTITATIVE</a:t>
            </a:r>
            <a:endParaRPr lang="en-US" sz="900" dirty="0"/>
          </a:p>
        </p:txBody>
      </p:sp>
      <p:sp>
        <p:nvSpPr>
          <p:cNvPr id="18" name="Text 14"/>
          <p:cNvSpPr/>
          <p:nvPr/>
        </p:nvSpPr>
        <p:spPr>
          <a:xfrm>
            <a:off x="3657600" y="3063240"/>
            <a:ext cx="2148840" cy="365760"/>
          </a:xfrm>
          <a:prstGeom prst="rect">
            <a:avLst/>
          </a:prstGeom>
          <a:noFill/>
          <a:ln/>
        </p:spPr>
        <p:txBody>
          <a:bodyPr wrap="square" lIns="0" tIns="0" rIns="0" bIns="0" rtlCol="0" anchor="ctr"/>
          <a:lstStyle/>
          <a:p>
            <a:pPr indent="0" marL="0">
              <a:buNone/>
            </a:pPr>
            <a:r>
              <a:rPr lang="en-US" sz="1400" dirty="0">
                <a:solidFill>
                  <a:srgbClr val="1D1D1F"/>
                </a:solidFill>
                <a:latin typeface="Georgia" pitchFamily="34" charset="0"/>
                <a:ea typeface="Georgia" pitchFamily="34" charset="-122"/>
                <a:cs typeface="Georgia" pitchFamily="34" charset="-120"/>
              </a:rPr>
              <a:t>Study 2: Survey Replication</a:t>
            </a:r>
            <a:endParaRPr lang="en-US" sz="1400" dirty="0"/>
          </a:p>
        </p:txBody>
      </p:sp>
      <p:sp>
        <p:nvSpPr>
          <p:cNvPr id="19" name="Text 15"/>
          <p:cNvSpPr/>
          <p:nvPr/>
        </p:nvSpPr>
        <p:spPr>
          <a:xfrm>
            <a:off x="3657600" y="3474720"/>
            <a:ext cx="2148840" cy="1051560"/>
          </a:xfrm>
          <a:prstGeom prst="rect">
            <a:avLst/>
          </a:prstGeom>
          <a:noFill/>
          <a:ln/>
        </p:spPr>
        <p:txBody>
          <a:bodyPr wrap="square" lIns="0" tIns="0" rIns="0" bIns="0" rtlCol="0" anchor="ctr"/>
          <a:lstStyle/>
          <a:p>
            <a:pPr indent="0" marL="0">
              <a:lnSpc>
                <a:spcPct val="130000"/>
              </a:lnSpc>
              <a:buNone/>
            </a:pPr>
            <a:r>
              <a:rPr lang="en-US" sz="1150" dirty="0">
                <a:solidFill>
                  <a:srgbClr val="636366"/>
                </a:solidFill>
                <a:latin typeface="Calibri" pitchFamily="34" charset="0"/>
                <a:ea typeface="Calibri" pitchFamily="34" charset="-122"/>
                <a:cs typeface="Calibri" pitchFamily="34" charset="-120"/>
              </a:rPr>
              <a:t>Refrigerated dog food survey (n=605). Few-shot + RAG improve heterogeneity and internal consistency.</a:t>
            </a:r>
            <a:endParaRPr lang="en-US" sz="1150" dirty="0"/>
          </a:p>
        </p:txBody>
      </p:sp>
      <p:sp>
        <p:nvSpPr>
          <p:cNvPr id="20" name="Shape 16"/>
          <p:cNvSpPr/>
          <p:nvPr/>
        </p:nvSpPr>
        <p:spPr>
          <a:xfrm>
            <a:off x="6217920" y="2377440"/>
            <a:ext cx="2606040" cy="2377440"/>
          </a:xfrm>
          <a:prstGeom prst="rect">
            <a:avLst/>
          </a:prstGeom>
          <a:solidFill>
            <a:srgbClr val="F2F2F7"/>
          </a:solidFill>
          <a:ln/>
          <a:effectLst>
            <a:outerShdw sx="100000" sy="100000" kx="0" ky="0" algn="bl" rotWithShape="0" blurRad="101600" dist="38100" dir="8100000">
              <a:srgbClr val="000000">
                <a:alpha val="8000"/>
              </a:srgbClr>
            </a:outerShdw>
          </a:effectLst>
        </p:spPr>
      </p:sp>
      <p:sp>
        <p:nvSpPr>
          <p:cNvPr id="21" name="Shape 17"/>
          <p:cNvSpPr/>
          <p:nvPr/>
        </p:nvSpPr>
        <p:spPr>
          <a:xfrm>
            <a:off x="6217920" y="2377440"/>
            <a:ext cx="54864" cy="2377440"/>
          </a:xfrm>
          <a:prstGeom prst="rect">
            <a:avLst/>
          </a:prstGeom>
          <a:solidFill>
            <a:srgbClr val="D4AF37"/>
          </a:solidFill>
          <a:ln/>
        </p:spPr>
      </p:sp>
      <p:pic>
        <p:nvPicPr>
          <p:cNvPr id="22" name="Image 2" descr="preencoded.png">    </p:cNvPr>
          <p:cNvPicPr>
            <a:picLocks noChangeAspect="1"/>
          </p:cNvPicPr>
          <p:nvPr/>
        </p:nvPicPr>
        <p:blipFill>
          <a:blip r:embed="rId3"/>
          <a:stretch>
            <a:fillRect/>
          </a:stretch>
        </p:blipFill>
        <p:spPr>
          <a:xfrm>
            <a:off x="6446520" y="2606040"/>
            <a:ext cx="320040" cy="320040"/>
          </a:xfrm>
          <a:prstGeom prst="rect">
            <a:avLst/>
          </a:prstGeom>
        </p:spPr>
      </p:pic>
      <p:sp>
        <p:nvSpPr>
          <p:cNvPr id="23" name="Text 18"/>
          <p:cNvSpPr/>
          <p:nvPr/>
        </p:nvSpPr>
        <p:spPr>
          <a:xfrm>
            <a:off x="6876288" y="2606040"/>
            <a:ext cx="1645920" cy="320040"/>
          </a:xfrm>
          <a:prstGeom prst="rect">
            <a:avLst/>
          </a:prstGeom>
          <a:noFill/>
          <a:ln/>
        </p:spPr>
        <p:txBody>
          <a:bodyPr wrap="square" lIns="0" tIns="0" rIns="0" bIns="0" rtlCol="0" anchor="ctr"/>
          <a:lstStyle/>
          <a:p>
            <a:pPr indent="0" marL="0">
              <a:buNone/>
            </a:pPr>
            <a:r>
              <a:rPr lang="en-US" sz="900" b="1" spc="300" kern="0" dirty="0">
                <a:solidFill>
                  <a:srgbClr val="D4AF37"/>
                </a:solidFill>
                <a:latin typeface="Calibri" pitchFamily="34" charset="0"/>
                <a:ea typeface="Calibri" pitchFamily="34" charset="-122"/>
                <a:cs typeface="Calibri" pitchFamily="34" charset="-120"/>
              </a:rPr>
              <a:t>PRACTICAL</a:t>
            </a:r>
            <a:endParaRPr lang="en-US" sz="900" dirty="0"/>
          </a:p>
        </p:txBody>
      </p:sp>
      <p:sp>
        <p:nvSpPr>
          <p:cNvPr id="24" name="Text 19"/>
          <p:cNvSpPr/>
          <p:nvPr/>
        </p:nvSpPr>
        <p:spPr>
          <a:xfrm>
            <a:off x="6446520" y="3063240"/>
            <a:ext cx="2148840" cy="365760"/>
          </a:xfrm>
          <a:prstGeom prst="rect">
            <a:avLst/>
          </a:prstGeom>
          <a:noFill/>
          <a:ln/>
        </p:spPr>
        <p:txBody>
          <a:bodyPr wrap="square" lIns="0" tIns="0" rIns="0" bIns="0" rtlCol="0" anchor="ctr"/>
          <a:lstStyle/>
          <a:p>
            <a:pPr indent="0" marL="0">
              <a:buNone/>
            </a:pPr>
            <a:r>
              <a:rPr lang="en-US" sz="1400" dirty="0">
                <a:solidFill>
                  <a:srgbClr val="1D1D1F"/>
                </a:solidFill>
                <a:latin typeface="Georgia" pitchFamily="34" charset="0"/>
                <a:ea typeface="Georgia" pitchFamily="34" charset="-122"/>
                <a:cs typeface="Georgia" pitchFamily="34" charset="-120"/>
              </a:rPr>
              <a:t>Road Maps for Adoption</a:t>
            </a:r>
            <a:endParaRPr lang="en-US" sz="1400" dirty="0"/>
          </a:p>
        </p:txBody>
      </p:sp>
      <p:sp>
        <p:nvSpPr>
          <p:cNvPr id="25" name="Text 20"/>
          <p:cNvSpPr/>
          <p:nvPr/>
        </p:nvSpPr>
        <p:spPr>
          <a:xfrm>
            <a:off x="6446520" y="3474720"/>
            <a:ext cx="2148840" cy="1051560"/>
          </a:xfrm>
          <a:prstGeom prst="rect">
            <a:avLst/>
          </a:prstGeom>
          <a:noFill/>
          <a:ln/>
        </p:spPr>
        <p:txBody>
          <a:bodyPr wrap="square" lIns="0" tIns="0" rIns="0" bIns="0" rtlCol="0" anchor="ctr"/>
          <a:lstStyle/>
          <a:p>
            <a:pPr indent="0" marL="0">
              <a:lnSpc>
                <a:spcPct val="130000"/>
              </a:lnSpc>
              <a:buNone/>
            </a:pPr>
            <a:r>
              <a:rPr lang="en-US" sz="1150" dirty="0">
                <a:solidFill>
                  <a:srgbClr val="636366"/>
                </a:solidFill>
                <a:latin typeface="Calibri" pitchFamily="34" charset="0"/>
                <a:ea typeface="Calibri" pitchFamily="34" charset="-122"/>
                <a:cs typeface="Calibri" pitchFamily="34" charset="-120"/>
              </a:rPr>
              <a:t>Step-by-step guides for integrating LLMs into both qualitative and quantitative marketing research workflows.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2743200" cy="320040"/>
          </a:xfrm>
          <a:prstGeom prst="rect">
            <a:avLst/>
          </a:prstGeom>
          <a:noFill/>
          <a:ln/>
        </p:spPr>
        <p:txBody>
          <a:bodyPr wrap="square" lIns="0" tIns="0" rIns="0" bIns="0" rtlCol="0" anchor="ctr"/>
          <a:lstStyle/>
          <a:p>
            <a:pPr indent="0" marL="0">
              <a:buNone/>
            </a:pPr>
            <a:r>
              <a:rPr lang="en-US" sz="1000" b="1" spc="400" kern="0" dirty="0">
                <a:solidFill>
                  <a:srgbClr val="006B3F"/>
                </a:solidFill>
                <a:latin typeface="Calibri" pitchFamily="34" charset="0"/>
                <a:ea typeface="Calibri" pitchFamily="34" charset="-122"/>
                <a:cs typeface="Calibri" pitchFamily="34" charset="-120"/>
              </a:rPr>
              <a:t>STUDY 1</a:t>
            </a:r>
            <a:endParaRPr lang="en-US" sz="1000" dirty="0"/>
          </a:p>
        </p:txBody>
      </p:sp>
      <p:sp>
        <p:nvSpPr>
          <p:cNvPr id="3" name="Text 1"/>
          <p:cNvSpPr/>
          <p:nvPr/>
        </p:nvSpPr>
        <p:spPr>
          <a:xfrm>
            <a:off x="640080" y="731520"/>
            <a:ext cx="7863840" cy="502920"/>
          </a:xfrm>
          <a:prstGeom prst="rect">
            <a:avLst/>
          </a:prstGeom>
          <a:noFill/>
          <a:ln/>
        </p:spPr>
        <p:txBody>
          <a:bodyPr wrap="square" lIns="0" tIns="0" rIns="0" bIns="0" rtlCol="0" anchor="ctr"/>
          <a:lstStyle/>
          <a:p>
            <a:pPr indent="0" marL="0">
              <a:buNone/>
            </a:pPr>
            <a:r>
              <a:rPr lang="en-US" sz="2200" dirty="0">
                <a:solidFill>
                  <a:srgbClr val="1D1D1F"/>
                </a:solidFill>
                <a:latin typeface="Georgia" pitchFamily="34" charset="0"/>
                <a:ea typeface="Georgia" pitchFamily="34" charset="-122"/>
                <a:cs typeface="Georgia" pitchFamily="34" charset="-120"/>
              </a:rPr>
              <a:t>Qualitative Research: The Hybrid Advantage</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4572000" cy="914400"/>
        </p:xfrm>
        <a:graphic>
          <a:graphicData uri="http://schemas.openxmlformats.org/drawingml/2006/table">
            <a:tbl>
              <a:tblPr/>
              <a:tblGrid>
                <a:gridCol w="822960"/>
                <a:gridCol w="960120"/>
                <a:gridCol w="960120"/>
                <a:gridCol w="914400"/>
                <a:gridCol w="914400"/>
              </a:tblGrid>
              <a:tr h="32004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Condition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Discussion Guide</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Sample Selection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Respondents</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Moderation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D1D1F"/>
                    </a:solidFill>
                  </a:tcPr>
                </a:tc>
              </a:tr>
              <a:tr h="292608">
                <a:tc>
                  <a:txBody>
                    <a:bodyPr/>
                    <a:lstStyle/>
                    <a:p>
                      <a:pPr algn="ctr" indent="0" marL="0">
                        <a:buNone/>
                      </a:pPr>
                      <a:r>
                        <a:rPr lang="en-US" sz="900" b="1" dirty="0">
                          <a:solidFill>
                            <a:srgbClr val="48484A"/>
                          </a:solidFill>
                          <a:latin typeface="Calibri" pitchFamily="34" charset="0"/>
                          <a:ea typeface="Calibri" pitchFamily="34" charset="-122"/>
                          <a:cs typeface="Calibri" pitchFamily="34" charset="-120"/>
                        </a:rPr>
                        <a:t>All 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r>
              <a:tr h="292608">
                <a:tc>
                  <a:txBody>
                    <a:bodyPr/>
                    <a:lstStyle/>
                    <a:p>
                      <a:pPr algn="ctr" indent="0" marL="0">
                        <a:buNone/>
                      </a:pPr>
                      <a:r>
                        <a:rPr lang="en-US" sz="900" b="1" dirty="0">
                          <a:solidFill>
                            <a:srgbClr val="48484A"/>
                          </a:solidFill>
                          <a:latin typeface="Calibri" pitchFamily="34" charset="0"/>
                          <a:ea typeface="Calibri" pitchFamily="34" charset="-122"/>
                          <a:cs typeface="Calibri" pitchFamily="34" charset="-120"/>
                        </a:rPr>
                        <a:t>Hybrid 1</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b="1" dirty="0">
                          <a:solidFill>
                            <a:srgbClr val="006B3F"/>
                          </a:solidFill>
                          <a:latin typeface="Calibri" pitchFamily="34" charset="0"/>
                          <a:ea typeface="Calibri" pitchFamily="34" charset="-122"/>
                          <a:cs typeface="Calibri" pitchFamily="34" charset="-120"/>
                        </a:rPr>
                        <a:t>LLM</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EBF5EE"/>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r>
              <a:tr h="292608">
                <a:tc>
                  <a:txBody>
                    <a:bodyPr/>
                    <a:lstStyle/>
                    <a:p>
                      <a:pPr algn="ctr" indent="0" marL="0">
                        <a:buNone/>
                      </a:pPr>
                      <a:r>
                        <a:rPr lang="en-US" sz="900" b="1" dirty="0">
                          <a:solidFill>
                            <a:srgbClr val="48484A"/>
                          </a:solidFill>
                          <a:latin typeface="Calibri" pitchFamily="34" charset="0"/>
                          <a:ea typeface="Calibri" pitchFamily="34" charset="-122"/>
                          <a:cs typeface="Calibri" pitchFamily="34" charset="-120"/>
                        </a:rPr>
                        <a:t>Hybrid 2</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b="1" dirty="0">
                          <a:solidFill>
                            <a:srgbClr val="006B3F"/>
                          </a:solidFill>
                          <a:latin typeface="Calibri" pitchFamily="34" charset="0"/>
                          <a:ea typeface="Calibri" pitchFamily="34" charset="-122"/>
                          <a:cs typeface="Calibri" pitchFamily="34" charset="-120"/>
                        </a:rPr>
                        <a:t>LLM</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EBF5EE"/>
                    </a:solidFill>
                  </a:tcPr>
                </a:tc>
                <a:tc>
                  <a:txBody>
                    <a:bodyPr/>
                    <a:lstStyle/>
                    <a:p>
                      <a:pPr algn="ctr" indent="0" marL="0">
                        <a:buNone/>
                      </a:pPr>
                      <a:r>
                        <a:rPr lang="en-US" sz="900" b="1" dirty="0">
                          <a:solidFill>
                            <a:srgbClr val="006B3F"/>
                          </a:solidFill>
                          <a:latin typeface="Calibri" pitchFamily="34" charset="0"/>
                          <a:ea typeface="Calibri" pitchFamily="34" charset="-122"/>
                          <a:cs typeface="Calibri" pitchFamily="34" charset="-120"/>
                        </a:rPr>
                        <a:t>LLM</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EBF5EE"/>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r>
              <a:tr h="292608">
                <a:tc>
                  <a:txBody>
                    <a:bodyPr/>
                    <a:lstStyle/>
                    <a:p>
                      <a:pPr algn="ctr" indent="0" marL="0">
                        <a:buNone/>
                      </a:pPr>
                      <a:r>
                        <a:rPr lang="en-US" sz="900" b="1" dirty="0">
                          <a:solidFill>
                            <a:srgbClr val="48484A"/>
                          </a:solidFill>
                          <a:latin typeface="Calibri" pitchFamily="34" charset="0"/>
                          <a:ea typeface="Calibri" pitchFamily="34" charset="-122"/>
                          <a:cs typeface="Calibri" pitchFamily="34" charset="-120"/>
                        </a:rPr>
                        <a:t>Hybrid 3</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dirty="0">
                          <a:solidFill>
                            <a:srgbClr val="48484A"/>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2F2F7"/>
                    </a:solidFill>
                  </a:tcPr>
                </a:tc>
                <a:tc>
                  <a:txBody>
                    <a:bodyPr/>
                    <a:lstStyle/>
                    <a:p>
                      <a:pPr algn="ctr" indent="0" marL="0">
                        <a:buNone/>
                      </a:pPr>
                      <a:r>
                        <a:rPr lang="en-US" sz="900" b="1" dirty="0">
                          <a:solidFill>
                            <a:srgbClr val="006B3F"/>
                          </a:solidFill>
                          <a:latin typeface="Calibri" pitchFamily="34" charset="0"/>
                          <a:ea typeface="Calibri" pitchFamily="34" charset="-122"/>
                          <a:cs typeface="Calibri" pitchFamily="34" charset="-120"/>
                        </a:rPr>
                        <a:t>LLM</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EBF5EE"/>
                    </a:solidFill>
                  </a:tcPr>
                </a:tc>
                <a:tc>
                  <a:txBody>
                    <a:bodyPr/>
                    <a:lstStyle/>
                    <a:p>
                      <a:pPr algn="ctr" indent="0" marL="0">
                        <a:buNone/>
                      </a:pPr>
                      <a:r>
                        <a:rPr lang="en-US" sz="900" b="1" dirty="0">
                          <a:solidFill>
                            <a:srgbClr val="006B3F"/>
                          </a:solidFill>
                          <a:latin typeface="Calibri" pitchFamily="34" charset="0"/>
                          <a:ea typeface="Calibri" pitchFamily="34" charset="-122"/>
                          <a:cs typeface="Calibri" pitchFamily="34" charset="-120"/>
                        </a:rPr>
                        <a:t>LLM</a:t>
                      </a:r>
                      <a:endParaRPr lang="en-US" sz="900" dirty="0">
                        <a:latin typeface="Calibri" charset="0"/>
                        <a:ea typeface="Calibri" charset="0"/>
                        <a:cs typeface="Calibri" charset="0"/>
                      </a:endParaRPr>
                    </a:p>
                  </a:txBody>
                  <a:tcPr marL="91440" marR="91440" marT="45720" marB="45720"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EBF5EE"/>
                    </a:solidFill>
                  </a:tcPr>
                </a:tc>
              </a:tr>
            </a:tbl>
          </a:graphicData>
        </a:graphic>
      </p:graphicFrame>
      <p:sp>
        <p:nvSpPr>
          <p:cNvPr id="5" name="Shape 2"/>
          <p:cNvSpPr/>
          <p:nvPr/>
        </p:nvSpPr>
        <p:spPr>
          <a:xfrm>
            <a:off x="5669280" y="1371600"/>
            <a:ext cx="3017520" cy="3383280"/>
          </a:xfrm>
          <a:prstGeom prst="rect">
            <a:avLst/>
          </a:prstGeom>
          <a:solidFill>
            <a:srgbClr val="F5F0E8"/>
          </a:solidFill>
          <a:ln/>
          <a:effectLst>
            <a:outerShdw sx="100000" sy="100000" kx="0" ky="0" algn="bl" rotWithShape="0" blurRad="101600" dist="38100" dir="8100000">
              <a:srgbClr val="000000">
                <a:alpha val="8000"/>
              </a:srgbClr>
            </a:outerShdw>
          </a:effectLst>
        </p:spPr>
      </p:sp>
      <p:sp>
        <p:nvSpPr>
          <p:cNvPr id="6" name="Shape 3"/>
          <p:cNvSpPr/>
          <p:nvPr/>
        </p:nvSpPr>
        <p:spPr>
          <a:xfrm>
            <a:off x="5669280" y="1371600"/>
            <a:ext cx="54864" cy="3383280"/>
          </a:xfrm>
          <a:prstGeom prst="rect">
            <a:avLst/>
          </a:prstGeom>
          <a:solidFill>
            <a:srgbClr val="D4AF37"/>
          </a:solidFill>
          <a:ln/>
        </p:spPr>
      </p:sp>
      <p:sp>
        <p:nvSpPr>
          <p:cNvPr id="7" name="Text 4"/>
          <p:cNvSpPr/>
          <p:nvPr/>
        </p:nvSpPr>
        <p:spPr>
          <a:xfrm>
            <a:off x="5897880" y="1508760"/>
            <a:ext cx="2743200" cy="274320"/>
          </a:xfrm>
          <a:prstGeom prst="rect">
            <a:avLst/>
          </a:prstGeom>
          <a:noFill/>
          <a:ln/>
        </p:spPr>
        <p:txBody>
          <a:bodyPr wrap="square" lIns="0" tIns="0" rIns="0" bIns="0" rtlCol="0" anchor="ctr"/>
          <a:lstStyle/>
          <a:p>
            <a:pPr indent="0" marL="0">
              <a:buNone/>
            </a:pPr>
            <a:r>
              <a:rPr lang="en-US" sz="900" b="1" spc="300" kern="0" dirty="0">
                <a:solidFill>
                  <a:srgbClr val="D4AF37"/>
                </a:solidFill>
                <a:latin typeface="Calibri" pitchFamily="34" charset="0"/>
                <a:ea typeface="Calibri" pitchFamily="34" charset="-122"/>
                <a:cs typeface="Calibri" pitchFamily="34" charset="-120"/>
              </a:rPr>
              <a:t>KEY FINDINGS</a:t>
            </a:r>
            <a:endParaRPr lang="en-US" sz="900" dirty="0"/>
          </a:p>
        </p:txBody>
      </p:sp>
      <p:sp>
        <p:nvSpPr>
          <p:cNvPr id="8" name="Text 5"/>
          <p:cNvSpPr/>
          <p:nvPr/>
        </p:nvSpPr>
        <p:spPr>
          <a:xfrm>
            <a:off x="5897880" y="1920240"/>
            <a:ext cx="2560320" cy="274320"/>
          </a:xfrm>
          <a:prstGeom prst="rect">
            <a:avLst/>
          </a:prstGeom>
          <a:noFill/>
          <a:ln/>
        </p:spPr>
        <p:txBody>
          <a:bodyPr wrap="square" lIns="0" tIns="0" rIns="0" bIns="0" rtlCol="0" anchor="ctr"/>
          <a:lstStyle/>
          <a:p>
            <a:pPr indent="0" marL="0">
              <a:buNone/>
            </a:pPr>
            <a:r>
              <a:rPr lang="en-US" sz="1300" b="1" dirty="0">
                <a:solidFill>
                  <a:srgbClr val="1D1D1F"/>
                </a:solidFill>
                <a:latin typeface="Georgia" pitchFamily="34" charset="0"/>
                <a:ea typeface="Georgia" pitchFamily="34" charset="-122"/>
                <a:cs typeface="Georgia" pitchFamily="34" charset="-120"/>
              </a:rPr>
              <a:t>Depth &amp; Insightfulness</a:t>
            </a:r>
            <a:endParaRPr lang="en-US" sz="1300" dirty="0"/>
          </a:p>
        </p:txBody>
      </p:sp>
      <p:sp>
        <p:nvSpPr>
          <p:cNvPr id="9" name="Text 6"/>
          <p:cNvSpPr/>
          <p:nvPr/>
        </p:nvSpPr>
        <p:spPr>
          <a:xfrm>
            <a:off x="5897880" y="2176272"/>
            <a:ext cx="2560320" cy="320040"/>
          </a:xfrm>
          <a:prstGeom prst="rect">
            <a:avLst/>
          </a:prstGeom>
          <a:noFill/>
          <a:ln/>
        </p:spPr>
        <p:txBody>
          <a:bodyPr wrap="square" lIns="0" tIns="0" rIns="0" bIns="0" rtlCol="0" anchor="ctr"/>
          <a:lstStyle/>
          <a:p>
            <a:pPr indent="0" marL="0">
              <a:buNone/>
            </a:pPr>
            <a:r>
              <a:rPr lang="en-US" sz="1050" dirty="0">
                <a:solidFill>
                  <a:srgbClr val="636366"/>
                </a:solidFill>
                <a:latin typeface="Calibri" pitchFamily="34" charset="0"/>
                <a:ea typeface="Calibri" pitchFamily="34" charset="-122"/>
                <a:cs typeface="Calibri" pitchFamily="34" charset="-120"/>
              </a:rPr>
              <a:t>LLM-generated data significantly higher than human (p &lt; .01)</a:t>
            </a:r>
            <a:endParaRPr lang="en-US" sz="1050" dirty="0"/>
          </a:p>
        </p:txBody>
      </p:sp>
      <p:sp>
        <p:nvSpPr>
          <p:cNvPr id="10" name="Text 7"/>
          <p:cNvSpPr/>
          <p:nvPr/>
        </p:nvSpPr>
        <p:spPr>
          <a:xfrm>
            <a:off x="5897880" y="2633472"/>
            <a:ext cx="2560320" cy="274320"/>
          </a:xfrm>
          <a:prstGeom prst="rect">
            <a:avLst/>
          </a:prstGeom>
          <a:noFill/>
          <a:ln/>
        </p:spPr>
        <p:txBody>
          <a:bodyPr wrap="square" lIns="0" tIns="0" rIns="0" bIns="0" rtlCol="0" anchor="ctr"/>
          <a:lstStyle/>
          <a:p>
            <a:pPr indent="0" marL="0">
              <a:buNone/>
            </a:pPr>
            <a:r>
              <a:rPr lang="en-US" sz="1300" b="1" dirty="0">
                <a:solidFill>
                  <a:srgbClr val="1D1D1F"/>
                </a:solidFill>
                <a:latin typeface="Georgia" pitchFamily="34" charset="0"/>
                <a:ea typeface="Georgia" pitchFamily="34" charset="-122"/>
                <a:cs typeface="Georgia" pitchFamily="34" charset="-120"/>
              </a:rPr>
              <a:t>96% Theme Recovery</a:t>
            </a:r>
            <a:endParaRPr lang="en-US" sz="1300" dirty="0"/>
          </a:p>
        </p:txBody>
      </p:sp>
      <p:sp>
        <p:nvSpPr>
          <p:cNvPr id="11" name="Text 8"/>
          <p:cNvSpPr/>
          <p:nvPr/>
        </p:nvSpPr>
        <p:spPr>
          <a:xfrm>
            <a:off x="5897880" y="2889504"/>
            <a:ext cx="2560320" cy="320040"/>
          </a:xfrm>
          <a:prstGeom prst="rect">
            <a:avLst/>
          </a:prstGeom>
          <a:noFill/>
          <a:ln/>
        </p:spPr>
        <p:txBody>
          <a:bodyPr wrap="square" lIns="0" tIns="0" rIns="0" bIns="0" rtlCol="0" anchor="ctr"/>
          <a:lstStyle/>
          <a:p>
            <a:pPr indent="0" marL="0">
              <a:buNone/>
            </a:pPr>
            <a:r>
              <a:rPr lang="en-US" sz="1050" dirty="0">
                <a:solidFill>
                  <a:srgbClr val="636366"/>
                </a:solidFill>
                <a:latin typeface="Calibri" pitchFamily="34" charset="0"/>
                <a:ea typeface="Calibri" pitchFamily="34" charset="-122"/>
                <a:cs typeface="Calibri" pitchFamily="34" charset="-120"/>
              </a:rPr>
              <a:t>Human-generated, LLM-analyzed recovers nearly all themes</a:t>
            </a:r>
            <a:endParaRPr lang="en-US" sz="1050" dirty="0"/>
          </a:p>
        </p:txBody>
      </p:sp>
      <p:sp>
        <p:nvSpPr>
          <p:cNvPr id="12" name="Text 9"/>
          <p:cNvSpPr/>
          <p:nvPr/>
        </p:nvSpPr>
        <p:spPr>
          <a:xfrm>
            <a:off x="5897880" y="3346704"/>
            <a:ext cx="2560320" cy="274320"/>
          </a:xfrm>
          <a:prstGeom prst="rect">
            <a:avLst/>
          </a:prstGeom>
          <a:noFill/>
          <a:ln/>
        </p:spPr>
        <p:txBody>
          <a:bodyPr wrap="square" lIns="0" tIns="0" rIns="0" bIns="0" rtlCol="0" anchor="ctr"/>
          <a:lstStyle/>
          <a:p>
            <a:pPr indent="0" marL="0">
              <a:buNone/>
            </a:pPr>
            <a:r>
              <a:rPr lang="en-US" sz="1300" b="1" dirty="0">
                <a:solidFill>
                  <a:srgbClr val="1D1D1F"/>
                </a:solidFill>
                <a:latin typeface="Georgia" pitchFamily="34" charset="0"/>
                <a:ea typeface="Georgia" pitchFamily="34" charset="-122"/>
                <a:cs typeface="Georgia" pitchFamily="34" charset="-120"/>
              </a:rPr>
              <a:t>23% New Themes</a:t>
            </a:r>
            <a:endParaRPr lang="en-US" sz="1300" dirty="0"/>
          </a:p>
        </p:txBody>
      </p:sp>
      <p:sp>
        <p:nvSpPr>
          <p:cNvPr id="13" name="Text 10"/>
          <p:cNvSpPr/>
          <p:nvPr/>
        </p:nvSpPr>
        <p:spPr>
          <a:xfrm>
            <a:off x="5897880" y="3602736"/>
            <a:ext cx="2560320" cy="320040"/>
          </a:xfrm>
          <a:prstGeom prst="rect">
            <a:avLst/>
          </a:prstGeom>
          <a:noFill/>
          <a:ln/>
        </p:spPr>
        <p:txBody>
          <a:bodyPr wrap="square" lIns="0" tIns="0" rIns="0" bIns="0" rtlCol="0" anchor="ctr"/>
          <a:lstStyle/>
          <a:p>
            <a:pPr indent="0" marL="0">
              <a:buNone/>
            </a:pPr>
            <a:r>
              <a:rPr lang="en-US" sz="1050" dirty="0">
                <a:solidFill>
                  <a:srgbClr val="636366"/>
                </a:solidFill>
                <a:latin typeface="Calibri" pitchFamily="34" charset="0"/>
                <a:ea typeface="Calibri" pitchFamily="34" charset="-122"/>
                <a:cs typeface="Calibri" pitchFamily="34" charset="-120"/>
              </a:rPr>
              <a:t>LLM hybrid discovers themes missed by all-human process</a:t>
            </a:r>
            <a:endParaRPr lang="en-US" sz="1050" dirty="0"/>
          </a:p>
        </p:txBody>
      </p:sp>
      <p:sp>
        <p:nvSpPr>
          <p:cNvPr id="14" name="Text 11"/>
          <p:cNvSpPr/>
          <p:nvPr/>
        </p:nvSpPr>
        <p:spPr>
          <a:xfrm>
            <a:off x="5897880" y="4059936"/>
            <a:ext cx="2560320" cy="274320"/>
          </a:xfrm>
          <a:prstGeom prst="rect">
            <a:avLst/>
          </a:prstGeom>
          <a:noFill/>
          <a:ln/>
        </p:spPr>
        <p:txBody>
          <a:bodyPr wrap="square" lIns="0" tIns="0" rIns="0" bIns="0" rtlCol="0" anchor="ctr"/>
          <a:lstStyle/>
          <a:p>
            <a:pPr indent="0" marL="0">
              <a:buNone/>
            </a:pPr>
            <a:r>
              <a:rPr lang="en-US" sz="1300" b="1" dirty="0">
                <a:solidFill>
                  <a:srgbClr val="1D1D1F"/>
                </a:solidFill>
                <a:latin typeface="Georgia" pitchFamily="34" charset="0"/>
                <a:ea typeface="Georgia" pitchFamily="34" charset="-122"/>
                <a:cs typeface="Georgia" pitchFamily="34" charset="-120"/>
              </a:rPr>
              <a:t>3 of 5 Judges Prefer</a:t>
            </a:r>
            <a:endParaRPr lang="en-US" sz="1300" dirty="0"/>
          </a:p>
        </p:txBody>
      </p:sp>
      <p:sp>
        <p:nvSpPr>
          <p:cNvPr id="15" name="Text 12"/>
          <p:cNvSpPr/>
          <p:nvPr/>
        </p:nvSpPr>
        <p:spPr>
          <a:xfrm>
            <a:off x="5897880" y="4315968"/>
            <a:ext cx="2560320" cy="320040"/>
          </a:xfrm>
          <a:prstGeom prst="rect">
            <a:avLst/>
          </a:prstGeom>
          <a:noFill/>
          <a:ln/>
        </p:spPr>
        <p:txBody>
          <a:bodyPr wrap="square" lIns="0" tIns="0" rIns="0" bIns="0" rtlCol="0" anchor="ctr"/>
          <a:lstStyle/>
          <a:p>
            <a:pPr indent="0" marL="0">
              <a:buNone/>
            </a:pPr>
            <a:r>
              <a:rPr lang="en-US" sz="1050" dirty="0">
                <a:solidFill>
                  <a:srgbClr val="636366"/>
                </a:solidFill>
                <a:latin typeface="Calibri" pitchFamily="34" charset="0"/>
                <a:ea typeface="Calibri" pitchFamily="34" charset="-122"/>
                <a:cs typeface="Calibri" pitchFamily="34" charset="-120"/>
              </a:rPr>
              <a:t>Expert evaluators prefer human–LLM hybrid analyses</a:t>
            </a:r>
            <a:endParaRPr lang="en-US" sz="1050" dirty="0"/>
          </a:p>
        </p:txBody>
      </p:sp>
      <p:sp>
        <p:nvSpPr>
          <p:cNvPr id="16" name="Shape 13"/>
          <p:cNvSpPr/>
          <p:nvPr/>
        </p:nvSpPr>
        <p:spPr>
          <a:xfrm>
            <a:off x="640080" y="3474720"/>
            <a:ext cx="4572000" cy="1280160"/>
          </a:xfrm>
          <a:prstGeom prst="rect">
            <a:avLst/>
          </a:prstGeom>
          <a:solidFill>
            <a:srgbClr val="F2F2F7"/>
          </a:solidFill>
          <a:ln/>
        </p:spPr>
      </p:sp>
      <p:pic>
        <p:nvPicPr>
          <p:cNvPr id="17" name="Image 0" descr="preencoded.png">    </p:cNvPr>
          <p:cNvPicPr>
            <a:picLocks noChangeAspect="1"/>
          </p:cNvPicPr>
          <p:nvPr/>
        </p:nvPicPr>
        <p:blipFill>
          <a:blip r:embed="rId1"/>
          <a:stretch>
            <a:fillRect/>
          </a:stretch>
        </p:blipFill>
        <p:spPr>
          <a:xfrm>
            <a:off x="822960" y="3657600"/>
            <a:ext cx="274320" cy="274320"/>
          </a:xfrm>
          <a:prstGeom prst="rect">
            <a:avLst/>
          </a:prstGeom>
        </p:spPr>
      </p:pic>
      <p:sp>
        <p:nvSpPr>
          <p:cNvPr id="18" name="Text 14"/>
          <p:cNvSpPr/>
          <p:nvPr/>
        </p:nvSpPr>
        <p:spPr>
          <a:xfrm>
            <a:off x="1188720" y="3657600"/>
            <a:ext cx="3657600" cy="274320"/>
          </a:xfrm>
          <a:prstGeom prst="rect">
            <a:avLst/>
          </a:prstGeom>
          <a:noFill/>
          <a:ln/>
        </p:spPr>
        <p:txBody>
          <a:bodyPr wrap="square" lIns="0" tIns="0" rIns="0" bIns="0" rtlCol="0" anchor="ctr"/>
          <a:lstStyle/>
          <a:p>
            <a:pPr indent="0" marL="0">
              <a:buNone/>
            </a:pPr>
            <a:r>
              <a:rPr lang="en-US" sz="900" b="1" spc="200" kern="0" dirty="0">
                <a:solidFill>
                  <a:srgbClr val="006B3F"/>
                </a:solidFill>
                <a:latin typeface="Calibri" pitchFamily="34" charset="0"/>
                <a:ea typeface="Calibri" pitchFamily="34" charset="-122"/>
                <a:cs typeface="Calibri" pitchFamily="34" charset="-120"/>
              </a:rPr>
              <a:t>CRITICAL OBSERVATION</a:t>
            </a:r>
            <a:endParaRPr lang="en-US" sz="900" dirty="0"/>
          </a:p>
        </p:txBody>
      </p:sp>
      <p:sp>
        <p:nvSpPr>
          <p:cNvPr id="19" name="Text 15"/>
          <p:cNvSpPr/>
          <p:nvPr/>
        </p:nvSpPr>
        <p:spPr>
          <a:xfrm>
            <a:off x="822960" y="4023360"/>
            <a:ext cx="4206240" cy="640080"/>
          </a:xfrm>
          <a:prstGeom prst="rect">
            <a:avLst/>
          </a:prstGeom>
          <a:noFill/>
          <a:ln/>
        </p:spPr>
        <p:txBody>
          <a:bodyPr wrap="square" lIns="0" tIns="0" rIns="0" bIns="0" rtlCol="0" anchor="ctr"/>
          <a:lstStyle/>
          <a:p>
            <a:pPr indent="0" marL="0">
              <a:lnSpc>
                <a:spcPct val="130000"/>
              </a:lnSpc>
              <a:buNone/>
            </a:pPr>
            <a:r>
              <a:rPr lang="en-US" sz="1100" dirty="0">
                <a:solidFill>
                  <a:srgbClr val="48484A"/>
                </a:solidFill>
                <a:latin typeface="Calibri" pitchFamily="34" charset="0"/>
                <a:ea typeface="Calibri" pitchFamily="34" charset="-122"/>
                <a:cs typeface="Calibri" pitchFamily="34" charset="-120"/>
              </a:rPr>
              <a:t>Humans and LLMs possess complementary skills. Unique insights emerge from the hybrid that neither produces alone — the LLM surfaces niche respondents (vegans, restaurant chefs) that human recruiters overlook.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2743200" cy="320040"/>
          </a:xfrm>
          <a:prstGeom prst="rect">
            <a:avLst/>
          </a:prstGeom>
          <a:noFill/>
          <a:ln/>
        </p:spPr>
        <p:txBody>
          <a:bodyPr wrap="square" lIns="0" tIns="0" rIns="0" bIns="0" rtlCol="0" anchor="ctr"/>
          <a:lstStyle/>
          <a:p>
            <a:pPr indent="0" marL="0">
              <a:buNone/>
            </a:pPr>
            <a:r>
              <a:rPr lang="en-US" sz="1000" b="1" spc="400" kern="0" dirty="0">
                <a:solidFill>
                  <a:srgbClr val="C8102E"/>
                </a:solidFill>
                <a:latin typeface="Calibri" pitchFamily="34" charset="0"/>
                <a:ea typeface="Calibri" pitchFamily="34" charset="-122"/>
                <a:cs typeface="Calibri" pitchFamily="34" charset="-120"/>
              </a:rPr>
              <a:t>STUDY 2</a:t>
            </a:r>
            <a:endParaRPr lang="en-US" sz="1000" dirty="0"/>
          </a:p>
        </p:txBody>
      </p:sp>
      <p:sp>
        <p:nvSpPr>
          <p:cNvPr id="3" name="Text 1"/>
          <p:cNvSpPr/>
          <p:nvPr/>
        </p:nvSpPr>
        <p:spPr>
          <a:xfrm>
            <a:off x="640080" y="731520"/>
            <a:ext cx="7863840" cy="502920"/>
          </a:xfrm>
          <a:prstGeom prst="rect">
            <a:avLst/>
          </a:prstGeom>
          <a:noFill/>
          <a:ln/>
        </p:spPr>
        <p:txBody>
          <a:bodyPr wrap="square" lIns="0" tIns="0" rIns="0" bIns="0" rtlCol="0" anchor="ctr"/>
          <a:lstStyle/>
          <a:p>
            <a:pPr indent="0" marL="0">
              <a:buNone/>
            </a:pPr>
            <a:r>
              <a:rPr lang="en-US" sz="2200" dirty="0">
                <a:solidFill>
                  <a:srgbClr val="1D1D1F"/>
                </a:solidFill>
                <a:latin typeface="Georgia" pitchFamily="34" charset="0"/>
                <a:ea typeface="Georgia" pitchFamily="34" charset="-122"/>
                <a:cs typeface="Georgia" pitchFamily="34" charset="-120"/>
              </a:rPr>
              <a:t>Quantitative Research: Context Is Everything</a:t>
            </a:r>
            <a:endParaRPr lang="en-US" sz="2200" dirty="0"/>
          </a:p>
        </p:txBody>
      </p:sp>
      <p:sp>
        <p:nvSpPr>
          <p:cNvPr id="4" name="Shape 2"/>
          <p:cNvSpPr/>
          <p:nvPr/>
        </p:nvSpPr>
        <p:spPr>
          <a:xfrm>
            <a:off x="640080" y="1417320"/>
            <a:ext cx="7863840" cy="1005840"/>
          </a:xfrm>
          <a:prstGeom prst="rect">
            <a:avLst/>
          </a:prstGeom>
          <a:solidFill>
            <a:srgbClr val="F2F2F7"/>
          </a:solidFill>
          <a:ln/>
          <a:effectLst>
            <a:outerShdw sx="100000" sy="100000" kx="0" ky="0" algn="bl" rotWithShape="0" blurRad="101600" dist="38100" dir="8100000">
              <a:srgbClr val="000000">
                <a:alpha val="8000"/>
              </a:srgbClr>
            </a:outerShdw>
          </a:effectLst>
        </p:spPr>
      </p:sp>
      <p:sp>
        <p:nvSpPr>
          <p:cNvPr id="5" name="Shape 3"/>
          <p:cNvSpPr/>
          <p:nvPr/>
        </p:nvSpPr>
        <p:spPr>
          <a:xfrm>
            <a:off x="640080" y="1417320"/>
            <a:ext cx="54864" cy="1005840"/>
          </a:xfrm>
          <a:prstGeom prst="rect">
            <a:avLst/>
          </a:prstGeom>
          <a:solidFill>
            <a:srgbClr val="636366"/>
          </a:solidFill>
          <a:ln/>
        </p:spPr>
      </p:sp>
      <p:sp>
        <p:nvSpPr>
          <p:cNvPr id="6" name="Text 4"/>
          <p:cNvSpPr/>
          <p:nvPr/>
        </p:nvSpPr>
        <p:spPr>
          <a:xfrm>
            <a:off x="914400" y="1527048"/>
            <a:ext cx="2286000" cy="274320"/>
          </a:xfrm>
          <a:prstGeom prst="rect">
            <a:avLst/>
          </a:prstGeom>
          <a:noFill/>
          <a:ln/>
        </p:spPr>
        <p:txBody>
          <a:bodyPr wrap="square" lIns="0" tIns="0" rIns="0" bIns="0" rtlCol="0" anchor="ctr"/>
          <a:lstStyle/>
          <a:p>
            <a:pPr indent="0" marL="0">
              <a:buNone/>
            </a:pPr>
            <a:r>
              <a:rPr lang="en-US" sz="1400" b="1" dirty="0">
                <a:solidFill>
                  <a:srgbClr val="1D1D1F"/>
                </a:solidFill>
                <a:latin typeface="Georgia" pitchFamily="34" charset="0"/>
                <a:ea typeface="Georgia" pitchFamily="34" charset="-122"/>
                <a:cs typeface="Georgia" pitchFamily="34" charset="-120"/>
              </a:rPr>
              <a:t>LLM 1: Zero-Shot</a:t>
            </a:r>
            <a:endParaRPr lang="en-US" sz="1400" dirty="0"/>
          </a:p>
        </p:txBody>
      </p:sp>
      <p:sp>
        <p:nvSpPr>
          <p:cNvPr id="7" name="Text 5"/>
          <p:cNvSpPr/>
          <p:nvPr/>
        </p:nvSpPr>
        <p:spPr>
          <a:xfrm>
            <a:off x="3291840" y="1527048"/>
            <a:ext cx="5029200" cy="274320"/>
          </a:xfrm>
          <a:prstGeom prst="rect">
            <a:avLst/>
          </a:prstGeom>
          <a:noFill/>
          <a:ln/>
        </p:spPr>
        <p:txBody>
          <a:bodyPr wrap="square" lIns="0" tIns="0" rIns="0" bIns="0" rtlCol="0" anchor="ctr"/>
          <a:lstStyle/>
          <a:p>
            <a:pPr algn="r" indent="0" marL="0">
              <a:buNone/>
            </a:pPr>
            <a:r>
              <a:rPr lang="en-US" sz="1100" b="1" dirty="0">
                <a:solidFill>
                  <a:srgbClr val="636366"/>
                </a:solidFill>
                <a:latin typeface="Calibri" pitchFamily="34" charset="0"/>
                <a:ea typeface="Calibri" pitchFamily="34" charset="-122"/>
                <a:cs typeface="Calibri" pitchFamily="34" charset="-120"/>
              </a:rPr>
              <a:t>Bias: .66  |  Hetero: .41  |  Corr: .40</a:t>
            </a:r>
            <a:endParaRPr lang="en-US" sz="1100" dirty="0"/>
          </a:p>
        </p:txBody>
      </p:sp>
      <p:sp>
        <p:nvSpPr>
          <p:cNvPr id="8" name="Text 6"/>
          <p:cNvSpPr/>
          <p:nvPr/>
        </p:nvSpPr>
        <p:spPr>
          <a:xfrm>
            <a:off x="914400" y="1856232"/>
            <a:ext cx="7406640" cy="411480"/>
          </a:xfrm>
          <a:prstGeom prst="rect">
            <a:avLst/>
          </a:prstGeom>
          <a:noFill/>
          <a:ln/>
        </p:spPr>
        <p:txBody>
          <a:bodyPr wrap="square" lIns="0" tIns="0" rIns="0" bIns="0" rtlCol="0" anchor="ctr"/>
          <a:lstStyle/>
          <a:p>
            <a:pPr indent="0" marL="0">
              <a:lnSpc>
                <a:spcPct val="125000"/>
              </a:lnSpc>
              <a:buNone/>
            </a:pPr>
            <a:r>
              <a:rPr lang="en-US" sz="1150" dirty="0">
                <a:solidFill>
                  <a:srgbClr val="48484A"/>
                </a:solidFill>
                <a:latin typeface="Calibri" pitchFamily="34" charset="0"/>
                <a:ea typeface="Calibri" pitchFamily="34" charset="-122"/>
                <a:cs typeface="Calibri" pitchFamily="34" charset="-120"/>
              </a:rPr>
              <a:t>Picks answer direction correctly but underestimates variance. Demographics alone are insufficient for realistic personas.</a:t>
            </a:r>
            <a:endParaRPr lang="en-US" sz="1150" dirty="0"/>
          </a:p>
        </p:txBody>
      </p:sp>
      <p:pic>
        <p:nvPicPr>
          <p:cNvPr id="9" name="Image 0" descr="preencoded.png">    </p:cNvPr>
          <p:cNvPicPr>
            <a:picLocks noChangeAspect="1"/>
          </p:cNvPicPr>
          <p:nvPr/>
        </p:nvPicPr>
        <p:blipFill>
          <a:blip r:embed="rId1"/>
          <a:stretch>
            <a:fillRect/>
          </a:stretch>
        </p:blipFill>
        <p:spPr>
          <a:xfrm>
            <a:off x="4343400" y="2423160"/>
            <a:ext cx="201168" cy="201168"/>
          </a:xfrm>
          <a:prstGeom prst="rect">
            <a:avLst/>
          </a:prstGeom>
        </p:spPr>
      </p:pic>
      <p:sp>
        <p:nvSpPr>
          <p:cNvPr id="10" name="Shape 7"/>
          <p:cNvSpPr/>
          <p:nvPr/>
        </p:nvSpPr>
        <p:spPr>
          <a:xfrm>
            <a:off x="640080" y="2587752"/>
            <a:ext cx="7863840" cy="1005840"/>
          </a:xfrm>
          <a:prstGeom prst="rect">
            <a:avLst/>
          </a:prstGeom>
          <a:solidFill>
            <a:srgbClr val="FDF8ED"/>
          </a:solidFill>
          <a:ln/>
          <a:effectLst>
            <a:outerShdw sx="100000" sy="100000" kx="0" ky="0" algn="bl" rotWithShape="0" blurRad="101600" dist="38100" dir="8100000">
              <a:srgbClr val="000000">
                <a:alpha val="8000"/>
              </a:srgbClr>
            </a:outerShdw>
          </a:effectLst>
        </p:spPr>
      </p:sp>
      <p:sp>
        <p:nvSpPr>
          <p:cNvPr id="11" name="Shape 8"/>
          <p:cNvSpPr/>
          <p:nvPr/>
        </p:nvSpPr>
        <p:spPr>
          <a:xfrm>
            <a:off x="640080" y="2587752"/>
            <a:ext cx="54864" cy="1005840"/>
          </a:xfrm>
          <a:prstGeom prst="rect">
            <a:avLst/>
          </a:prstGeom>
          <a:solidFill>
            <a:srgbClr val="D4AF37"/>
          </a:solidFill>
          <a:ln/>
        </p:spPr>
      </p:sp>
      <p:sp>
        <p:nvSpPr>
          <p:cNvPr id="12" name="Text 9"/>
          <p:cNvSpPr/>
          <p:nvPr/>
        </p:nvSpPr>
        <p:spPr>
          <a:xfrm>
            <a:off x="914400" y="2697480"/>
            <a:ext cx="2286000" cy="274320"/>
          </a:xfrm>
          <a:prstGeom prst="rect">
            <a:avLst/>
          </a:prstGeom>
          <a:noFill/>
          <a:ln/>
        </p:spPr>
        <p:txBody>
          <a:bodyPr wrap="square" lIns="0" tIns="0" rIns="0" bIns="0" rtlCol="0" anchor="ctr"/>
          <a:lstStyle/>
          <a:p>
            <a:pPr indent="0" marL="0">
              <a:buNone/>
            </a:pPr>
            <a:r>
              <a:rPr lang="en-US" sz="1400" b="1" dirty="0">
                <a:solidFill>
                  <a:srgbClr val="1D1D1F"/>
                </a:solidFill>
                <a:latin typeface="Georgia" pitchFamily="34" charset="0"/>
                <a:ea typeface="Georgia" pitchFamily="34" charset="-122"/>
                <a:cs typeface="Georgia" pitchFamily="34" charset="-120"/>
              </a:rPr>
              <a:t>LLM 2: Few-Shot</a:t>
            </a:r>
            <a:endParaRPr lang="en-US" sz="1400" dirty="0"/>
          </a:p>
        </p:txBody>
      </p:sp>
      <p:sp>
        <p:nvSpPr>
          <p:cNvPr id="13" name="Text 10"/>
          <p:cNvSpPr/>
          <p:nvPr/>
        </p:nvSpPr>
        <p:spPr>
          <a:xfrm>
            <a:off x="3291840" y="2697480"/>
            <a:ext cx="5029200" cy="274320"/>
          </a:xfrm>
          <a:prstGeom prst="rect">
            <a:avLst/>
          </a:prstGeom>
          <a:noFill/>
          <a:ln/>
        </p:spPr>
        <p:txBody>
          <a:bodyPr wrap="square" lIns="0" tIns="0" rIns="0" bIns="0" rtlCol="0" anchor="ctr"/>
          <a:lstStyle/>
          <a:p>
            <a:pPr algn="r" indent="0" marL="0">
              <a:buNone/>
            </a:pPr>
            <a:r>
              <a:rPr lang="en-US" sz="1100" b="1" dirty="0">
                <a:solidFill>
                  <a:srgbClr val="D4AF37"/>
                </a:solidFill>
                <a:latin typeface="Calibri" pitchFamily="34" charset="0"/>
                <a:ea typeface="Calibri" pitchFamily="34" charset="-122"/>
                <a:cs typeface="Calibri" pitchFamily="34" charset="-120"/>
              </a:rPr>
              <a:t>Bias: .67  |  Hetero: .29  |  Corr: .27</a:t>
            </a:r>
            <a:endParaRPr lang="en-US" sz="1100" dirty="0"/>
          </a:p>
        </p:txBody>
      </p:sp>
      <p:sp>
        <p:nvSpPr>
          <p:cNvPr id="14" name="Text 11"/>
          <p:cNvSpPr/>
          <p:nvPr/>
        </p:nvSpPr>
        <p:spPr>
          <a:xfrm>
            <a:off x="914400" y="3026664"/>
            <a:ext cx="7406640" cy="411480"/>
          </a:xfrm>
          <a:prstGeom prst="rect">
            <a:avLst/>
          </a:prstGeom>
          <a:noFill/>
          <a:ln/>
        </p:spPr>
        <p:txBody>
          <a:bodyPr wrap="square" lIns="0" tIns="0" rIns="0" bIns="0" rtlCol="0" anchor="ctr"/>
          <a:lstStyle/>
          <a:p>
            <a:pPr indent="0" marL="0">
              <a:lnSpc>
                <a:spcPct val="125000"/>
              </a:lnSpc>
              <a:buNone/>
            </a:pPr>
            <a:r>
              <a:rPr lang="en-US" sz="1150" dirty="0">
                <a:solidFill>
                  <a:srgbClr val="48484A"/>
                </a:solidFill>
                <a:latin typeface="Calibri" pitchFamily="34" charset="0"/>
                <a:ea typeface="Calibri" pitchFamily="34" charset="-122"/>
                <a:cs typeface="Calibri" pitchFamily="34" charset="-120"/>
              </a:rPr>
              <a:t>Including response history in prompts significantly improves heterogeneity (p &lt; .05). Respondent consistency emerges.</a:t>
            </a:r>
            <a:endParaRPr lang="en-US" sz="1150" dirty="0"/>
          </a:p>
        </p:txBody>
      </p:sp>
      <p:pic>
        <p:nvPicPr>
          <p:cNvPr id="15" name="Image 1" descr="preencoded.png">    </p:cNvPr>
          <p:cNvPicPr>
            <a:picLocks noChangeAspect="1"/>
          </p:cNvPicPr>
          <p:nvPr/>
        </p:nvPicPr>
        <p:blipFill>
          <a:blip r:embed="rId2"/>
          <a:stretch>
            <a:fillRect/>
          </a:stretch>
        </p:blipFill>
        <p:spPr>
          <a:xfrm>
            <a:off x="4343400" y="3593592"/>
            <a:ext cx="201168" cy="201168"/>
          </a:xfrm>
          <a:prstGeom prst="rect">
            <a:avLst/>
          </a:prstGeom>
        </p:spPr>
      </p:pic>
      <p:sp>
        <p:nvSpPr>
          <p:cNvPr id="16" name="Shape 12"/>
          <p:cNvSpPr/>
          <p:nvPr/>
        </p:nvSpPr>
        <p:spPr>
          <a:xfrm>
            <a:off x="640080" y="3758184"/>
            <a:ext cx="7863840" cy="1005840"/>
          </a:xfrm>
          <a:prstGeom prst="rect">
            <a:avLst/>
          </a:prstGeom>
          <a:solidFill>
            <a:srgbClr val="EBF5EE"/>
          </a:solidFill>
          <a:ln/>
          <a:effectLst>
            <a:outerShdw sx="100000" sy="100000" kx="0" ky="0" algn="bl" rotWithShape="0" blurRad="101600" dist="38100" dir="8100000">
              <a:srgbClr val="000000">
                <a:alpha val="8000"/>
              </a:srgbClr>
            </a:outerShdw>
          </a:effectLst>
        </p:spPr>
      </p:sp>
      <p:sp>
        <p:nvSpPr>
          <p:cNvPr id="17" name="Shape 13"/>
          <p:cNvSpPr/>
          <p:nvPr/>
        </p:nvSpPr>
        <p:spPr>
          <a:xfrm>
            <a:off x="640080" y="3758184"/>
            <a:ext cx="54864" cy="1005840"/>
          </a:xfrm>
          <a:prstGeom prst="rect">
            <a:avLst/>
          </a:prstGeom>
          <a:solidFill>
            <a:srgbClr val="006B3F"/>
          </a:solidFill>
          <a:ln/>
        </p:spPr>
      </p:sp>
      <p:sp>
        <p:nvSpPr>
          <p:cNvPr id="18" name="Text 14"/>
          <p:cNvSpPr/>
          <p:nvPr/>
        </p:nvSpPr>
        <p:spPr>
          <a:xfrm>
            <a:off x="914400" y="3867912"/>
            <a:ext cx="2286000" cy="274320"/>
          </a:xfrm>
          <a:prstGeom prst="rect">
            <a:avLst/>
          </a:prstGeom>
          <a:noFill/>
          <a:ln/>
        </p:spPr>
        <p:txBody>
          <a:bodyPr wrap="square" lIns="0" tIns="0" rIns="0" bIns="0" rtlCol="0" anchor="ctr"/>
          <a:lstStyle/>
          <a:p>
            <a:pPr indent="0" marL="0">
              <a:buNone/>
            </a:pPr>
            <a:r>
              <a:rPr lang="en-US" sz="1400" b="1" dirty="0">
                <a:solidFill>
                  <a:srgbClr val="1D1D1F"/>
                </a:solidFill>
                <a:latin typeface="Georgia" pitchFamily="34" charset="0"/>
                <a:ea typeface="Georgia" pitchFamily="34" charset="-122"/>
                <a:cs typeface="Georgia" pitchFamily="34" charset="-120"/>
              </a:rPr>
              <a:t>LLM 3: Few-Shot + RAG</a:t>
            </a:r>
            <a:endParaRPr lang="en-US" sz="1400" dirty="0"/>
          </a:p>
        </p:txBody>
      </p:sp>
      <p:sp>
        <p:nvSpPr>
          <p:cNvPr id="19" name="Text 15"/>
          <p:cNvSpPr/>
          <p:nvPr/>
        </p:nvSpPr>
        <p:spPr>
          <a:xfrm>
            <a:off x="3291840" y="3867912"/>
            <a:ext cx="5029200" cy="274320"/>
          </a:xfrm>
          <a:prstGeom prst="rect">
            <a:avLst/>
          </a:prstGeom>
          <a:noFill/>
          <a:ln/>
        </p:spPr>
        <p:txBody>
          <a:bodyPr wrap="square" lIns="0" tIns="0" rIns="0" bIns="0" rtlCol="0" anchor="ctr"/>
          <a:lstStyle/>
          <a:p>
            <a:pPr algn="r" indent="0" marL="0">
              <a:buNone/>
            </a:pPr>
            <a:r>
              <a:rPr lang="en-US" sz="1100" b="1" dirty="0">
                <a:solidFill>
                  <a:srgbClr val="006B3F"/>
                </a:solidFill>
                <a:latin typeface="Calibri" pitchFamily="34" charset="0"/>
                <a:ea typeface="Calibri" pitchFamily="34" charset="-122"/>
                <a:cs typeface="Calibri" pitchFamily="34" charset="-120"/>
              </a:rPr>
              <a:t>Bias: .69  |  Hetero: .28  |  Corr: .11</a:t>
            </a:r>
            <a:endParaRPr lang="en-US" sz="1100" dirty="0"/>
          </a:p>
        </p:txBody>
      </p:sp>
      <p:sp>
        <p:nvSpPr>
          <p:cNvPr id="20" name="Text 16"/>
          <p:cNvSpPr/>
          <p:nvPr/>
        </p:nvSpPr>
        <p:spPr>
          <a:xfrm>
            <a:off x="914400" y="4197096"/>
            <a:ext cx="7406640" cy="411480"/>
          </a:xfrm>
          <a:prstGeom prst="rect">
            <a:avLst/>
          </a:prstGeom>
          <a:noFill/>
          <a:ln/>
        </p:spPr>
        <p:txBody>
          <a:bodyPr wrap="square" lIns="0" tIns="0" rIns="0" bIns="0" rtlCol="0" anchor="ctr"/>
          <a:lstStyle/>
          <a:p>
            <a:pPr indent="0" marL="0">
              <a:lnSpc>
                <a:spcPct val="125000"/>
              </a:lnSpc>
              <a:buNone/>
            </a:pPr>
            <a:r>
              <a:rPr lang="en-US" sz="1150" dirty="0">
                <a:solidFill>
                  <a:srgbClr val="48484A"/>
                </a:solidFill>
                <a:latin typeface="Calibri" pitchFamily="34" charset="0"/>
                <a:ea typeface="Calibri" pitchFamily="34" charset="-122"/>
                <a:cs typeface="Calibri" pitchFamily="34" charset="-120"/>
              </a:rPr>
              <a:t>Adding qualitative research transcripts via RAG yields the best internal consistency. Correlations nearly recovered.</a:t>
            </a:r>
            <a:endParaRPr lang="en-US" sz="1150" dirty="0"/>
          </a:p>
        </p:txBody>
      </p:sp>
      <p:sp>
        <p:nvSpPr>
          <p:cNvPr id="21" name="Shape 17"/>
          <p:cNvSpPr/>
          <p:nvPr/>
        </p:nvSpPr>
        <p:spPr>
          <a:xfrm>
            <a:off x="640080" y="4434840"/>
            <a:ext cx="7863840" cy="0"/>
          </a:xfrm>
          <a:prstGeom prst="line">
            <a:avLst/>
          </a:prstGeom>
          <a:noFill/>
          <a:ln w="6350">
            <a:solidFill>
              <a:srgbClr val="D4AF37"/>
            </a:solidFill>
            <a:prstDash val="solid"/>
          </a:ln>
        </p:spPr>
      </p:sp>
      <p:sp>
        <p:nvSpPr>
          <p:cNvPr id="22" name="Text 18"/>
          <p:cNvSpPr/>
          <p:nvPr/>
        </p:nvSpPr>
        <p:spPr>
          <a:xfrm>
            <a:off x="640080" y="4526280"/>
            <a:ext cx="7863840" cy="365760"/>
          </a:xfrm>
          <a:prstGeom prst="rect">
            <a:avLst/>
          </a:prstGeom>
          <a:noFill/>
          <a:ln/>
        </p:spPr>
        <p:txBody>
          <a:bodyPr wrap="square" lIns="0" tIns="0" rIns="0" bIns="0" rtlCol="0" anchor="ctr"/>
          <a:lstStyle/>
          <a:p>
            <a:pPr indent="0" marL="0">
              <a:buNone/>
            </a:pPr>
            <a:r>
              <a:rPr lang="en-US" sz="1100" i="1" dirty="0">
                <a:solidFill>
                  <a:srgbClr val="636366"/>
                </a:solidFill>
                <a:latin typeface="Calibri" pitchFamily="34" charset="0"/>
                <a:ea typeface="Calibri" pitchFamily="34" charset="-122"/>
                <a:cs typeface="Calibri" pitchFamily="34" charset="-120"/>
              </a:rPr>
              <a:t>Key insight: Context incorporation is the critical mechanism. But variance remains systematically lower than human data — a fundamental limitation acknowledged but not fully resolved.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640080" y="365760"/>
            <a:ext cx="3657600" cy="320040"/>
          </a:xfrm>
          <a:prstGeom prst="rect">
            <a:avLst/>
          </a:prstGeom>
          <a:noFill/>
          <a:ln/>
        </p:spPr>
        <p:txBody>
          <a:bodyPr wrap="square" lIns="0" tIns="0" rIns="0" bIns="0" rtlCol="0" anchor="ctr"/>
          <a:lstStyle/>
          <a:p>
            <a:pPr indent="0" marL="0">
              <a:buNone/>
            </a:pPr>
            <a:r>
              <a:rPr lang="en-US" sz="1000" b="1" spc="400" kern="0" dirty="0">
                <a:solidFill>
                  <a:srgbClr val="D4AF37"/>
                </a:solidFill>
                <a:latin typeface="Calibri" pitchFamily="34" charset="0"/>
                <a:ea typeface="Calibri" pitchFamily="34" charset="-122"/>
                <a:cs typeface="Calibri" pitchFamily="34" charset="-120"/>
              </a:rPr>
              <a:t>CRITICAL EVALUATION</a:t>
            </a:r>
            <a:endParaRPr lang="en-US" sz="1000" dirty="0"/>
          </a:p>
        </p:txBody>
      </p:sp>
      <p:sp>
        <p:nvSpPr>
          <p:cNvPr id="3" name="Shape 1"/>
          <p:cNvSpPr/>
          <p:nvPr/>
        </p:nvSpPr>
        <p:spPr>
          <a:xfrm>
            <a:off x="3200400" y="475488"/>
            <a:ext cx="365760" cy="32004"/>
          </a:xfrm>
          <a:prstGeom prst="rect">
            <a:avLst/>
          </a:prstGeom>
          <a:solidFill>
            <a:srgbClr val="006B3F"/>
          </a:solidFill>
          <a:ln/>
        </p:spPr>
      </p:sp>
      <p:sp>
        <p:nvSpPr>
          <p:cNvPr id="4" name="Shape 2"/>
          <p:cNvSpPr/>
          <p:nvPr/>
        </p:nvSpPr>
        <p:spPr>
          <a:xfrm>
            <a:off x="3611880" y="475488"/>
            <a:ext cx="365760" cy="32004"/>
          </a:xfrm>
          <a:prstGeom prst="rect">
            <a:avLst/>
          </a:prstGeom>
          <a:solidFill>
            <a:srgbClr val="C8102E"/>
          </a:solidFill>
          <a:ln/>
        </p:spPr>
      </p:sp>
      <p:sp>
        <p:nvSpPr>
          <p:cNvPr id="5" name="Shape 3"/>
          <p:cNvSpPr/>
          <p:nvPr/>
        </p:nvSpPr>
        <p:spPr>
          <a:xfrm>
            <a:off x="4023360" y="475488"/>
            <a:ext cx="365760" cy="32004"/>
          </a:xfrm>
          <a:prstGeom prst="rect">
            <a:avLst/>
          </a:prstGeom>
          <a:solidFill>
            <a:srgbClr val="006B3F"/>
          </a:solidFill>
          <a:ln/>
        </p:spPr>
      </p:sp>
      <p:sp>
        <p:nvSpPr>
          <p:cNvPr id="6" name="Text 4"/>
          <p:cNvSpPr/>
          <p:nvPr/>
        </p:nvSpPr>
        <p:spPr>
          <a:xfrm>
            <a:off x="640080" y="777240"/>
            <a:ext cx="7863840" cy="502920"/>
          </a:xfrm>
          <a:prstGeom prst="rect">
            <a:avLst/>
          </a:prstGeom>
          <a:noFill/>
          <a:ln/>
        </p:spPr>
        <p:txBody>
          <a:bodyPr wrap="square" lIns="0" tIns="0" rIns="0" bIns="0" rtlCol="0" anchor="ctr"/>
          <a:lstStyle/>
          <a:p>
            <a:pPr indent="0" marL="0">
              <a:buNone/>
            </a:pPr>
            <a:r>
              <a:rPr lang="en-US" sz="2200" dirty="0">
                <a:solidFill>
                  <a:srgbClr val="FFFFFF"/>
                </a:solidFill>
                <a:latin typeface="Georgia" pitchFamily="34" charset="0"/>
                <a:ea typeface="Georgia" pitchFamily="34" charset="-122"/>
                <a:cs typeface="Georgia" pitchFamily="34" charset="-120"/>
              </a:rPr>
              <a:t>What the Paper Does Well — and Where It Falls Short</a:t>
            </a:r>
            <a:endParaRPr lang="en-US" sz="2200" dirty="0"/>
          </a:p>
        </p:txBody>
      </p:sp>
      <p:sp>
        <p:nvSpPr>
          <p:cNvPr id="7" name="Shape 5"/>
          <p:cNvSpPr/>
          <p:nvPr/>
        </p:nvSpPr>
        <p:spPr>
          <a:xfrm>
            <a:off x="640080" y="1508760"/>
            <a:ext cx="3794760" cy="3200400"/>
          </a:xfrm>
          <a:prstGeom prst="rect">
            <a:avLst/>
          </a:prstGeom>
          <a:solidFill>
            <a:srgbClr val="1A3D2E"/>
          </a:solidFill>
          <a:ln/>
        </p:spPr>
      </p:sp>
      <p:sp>
        <p:nvSpPr>
          <p:cNvPr id="8" name="Text 6"/>
          <p:cNvSpPr/>
          <p:nvPr/>
        </p:nvSpPr>
        <p:spPr>
          <a:xfrm>
            <a:off x="868680" y="1645920"/>
            <a:ext cx="3200400" cy="274320"/>
          </a:xfrm>
          <a:prstGeom prst="rect">
            <a:avLst/>
          </a:prstGeom>
          <a:noFill/>
          <a:ln/>
        </p:spPr>
        <p:txBody>
          <a:bodyPr wrap="square" lIns="0" tIns="0" rIns="0" bIns="0" rtlCol="0" anchor="ctr"/>
          <a:lstStyle/>
          <a:p>
            <a:pPr indent="0" marL="0">
              <a:buNone/>
            </a:pPr>
            <a:r>
              <a:rPr lang="en-US" sz="900" b="1" spc="300" kern="0" dirty="0">
                <a:solidFill>
                  <a:srgbClr val="006B3F"/>
                </a:solidFill>
                <a:latin typeface="Calibri" pitchFamily="34" charset="0"/>
                <a:ea typeface="Calibri" pitchFamily="34" charset="-122"/>
                <a:cs typeface="Calibri" pitchFamily="34" charset="-120"/>
              </a:rPr>
              <a:t>STRENGTHS</a:t>
            </a:r>
            <a:endParaRPr lang="en-US" sz="900" dirty="0"/>
          </a:p>
        </p:txBody>
      </p:sp>
      <p:sp>
        <p:nvSpPr>
          <p:cNvPr id="9" name="Text 7"/>
          <p:cNvSpPr/>
          <p:nvPr/>
        </p:nvSpPr>
        <p:spPr>
          <a:xfrm>
            <a:off x="868680" y="2011680"/>
            <a:ext cx="3337560" cy="548640"/>
          </a:xfrm>
          <a:prstGeom prst="rect">
            <a:avLst/>
          </a:prstGeom>
          <a:noFill/>
          <a:ln/>
        </p:spPr>
        <p:txBody>
          <a:bodyPr wrap="square" lIns="0" tIns="0" rIns="0" bIns="0" rtlCol="0" anchor="ctr"/>
          <a:lstStyle/>
          <a:p>
            <a:pPr indent="0" marL="0">
              <a:lnSpc>
                <a:spcPct val="130000"/>
              </a:lnSpc>
              <a:buNone/>
            </a:pPr>
            <a:r>
              <a:rPr lang="en-US" sz="1100" dirty="0">
                <a:solidFill>
                  <a:srgbClr val="FAF9F6"/>
                </a:solidFill>
                <a:latin typeface="Calibri" pitchFamily="34" charset="0"/>
                <a:ea typeface="Calibri" pitchFamily="34" charset="-122"/>
                <a:cs typeface="Calibri" pitchFamily="34" charset="-120"/>
              </a:rPr>
              <a:t>Full reproducibility — prompt structures, system architecture diagrams, and code all documented</a:t>
            </a:r>
            <a:endParaRPr lang="en-US" sz="1100" dirty="0"/>
          </a:p>
        </p:txBody>
      </p:sp>
      <p:sp>
        <p:nvSpPr>
          <p:cNvPr id="10" name="Text 8"/>
          <p:cNvSpPr/>
          <p:nvPr/>
        </p:nvSpPr>
        <p:spPr>
          <a:xfrm>
            <a:off x="868680" y="2670048"/>
            <a:ext cx="3337560" cy="548640"/>
          </a:xfrm>
          <a:prstGeom prst="rect">
            <a:avLst/>
          </a:prstGeom>
          <a:noFill/>
          <a:ln/>
        </p:spPr>
        <p:txBody>
          <a:bodyPr wrap="square" lIns="0" tIns="0" rIns="0" bIns="0" rtlCol="0" anchor="ctr"/>
          <a:lstStyle/>
          <a:p>
            <a:pPr indent="0" marL="0">
              <a:lnSpc>
                <a:spcPct val="130000"/>
              </a:lnSpc>
              <a:buNone/>
            </a:pPr>
            <a:r>
              <a:rPr lang="en-US" sz="1100" dirty="0">
                <a:solidFill>
                  <a:srgbClr val="FAF9F6"/>
                </a:solidFill>
                <a:latin typeface="Calibri" pitchFamily="34" charset="0"/>
                <a:ea typeface="Calibri" pitchFamily="34" charset="-122"/>
                <a:cs typeface="Calibri" pitchFamily="34" charset="-120"/>
              </a:rPr>
              <a:t>Real-world validation with Fortune 500 partner; not just simulated data</a:t>
            </a:r>
            <a:endParaRPr lang="en-US" sz="1100" dirty="0"/>
          </a:p>
        </p:txBody>
      </p:sp>
      <p:sp>
        <p:nvSpPr>
          <p:cNvPr id="11" name="Text 9"/>
          <p:cNvSpPr/>
          <p:nvPr/>
        </p:nvSpPr>
        <p:spPr>
          <a:xfrm>
            <a:off x="868680" y="3328416"/>
            <a:ext cx="3337560" cy="548640"/>
          </a:xfrm>
          <a:prstGeom prst="rect">
            <a:avLst/>
          </a:prstGeom>
          <a:noFill/>
          <a:ln/>
        </p:spPr>
        <p:txBody>
          <a:bodyPr wrap="square" lIns="0" tIns="0" rIns="0" bIns="0" rtlCol="0" anchor="ctr"/>
          <a:lstStyle/>
          <a:p>
            <a:pPr indent="0" marL="0">
              <a:lnSpc>
                <a:spcPct val="130000"/>
              </a:lnSpc>
              <a:buNone/>
            </a:pPr>
            <a:r>
              <a:rPr lang="en-US" sz="1100" dirty="0">
                <a:solidFill>
                  <a:srgbClr val="FAF9F6"/>
                </a:solidFill>
                <a:latin typeface="Calibri" pitchFamily="34" charset="0"/>
                <a:ea typeface="Calibri" pitchFamily="34" charset="-122"/>
                <a:cs typeface="Calibri" pitchFamily="34" charset="-120"/>
              </a:rPr>
              <a:t>Dual road maps translate findings into practitioner-ready adoption guides</a:t>
            </a:r>
            <a:endParaRPr lang="en-US" sz="1100" dirty="0"/>
          </a:p>
        </p:txBody>
      </p:sp>
      <p:sp>
        <p:nvSpPr>
          <p:cNvPr id="12" name="Text 10"/>
          <p:cNvSpPr/>
          <p:nvPr/>
        </p:nvSpPr>
        <p:spPr>
          <a:xfrm>
            <a:off x="868680" y="3986784"/>
            <a:ext cx="3337560" cy="548640"/>
          </a:xfrm>
          <a:prstGeom prst="rect">
            <a:avLst/>
          </a:prstGeom>
          <a:noFill/>
          <a:ln/>
        </p:spPr>
        <p:txBody>
          <a:bodyPr wrap="square" lIns="0" tIns="0" rIns="0" bIns="0" rtlCol="0" anchor="ctr"/>
          <a:lstStyle/>
          <a:p>
            <a:pPr indent="0" marL="0">
              <a:lnSpc>
                <a:spcPct val="130000"/>
              </a:lnSpc>
              <a:buNone/>
            </a:pPr>
            <a:r>
              <a:rPr lang="en-US" sz="1100" dirty="0">
                <a:solidFill>
                  <a:srgbClr val="FAF9F6"/>
                </a:solidFill>
                <a:latin typeface="Calibri" pitchFamily="34" charset="0"/>
                <a:ea typeface="Calibri" pitchFamily="34" charset="-122"/>
                <a:cs typeface="Calibri" pitchFamily="34" charset="-120"/>
              </a:rPr>
              <a:t>Mixed-method design strengthens claims across both qualitative and quantitative domains</a:t>
            </a:r>
            <a:endParaRPr lang="en-US" sz="1100" dirty="0"/>
          </a:p>
        </p:txBody>
      </p:sp>
      <p:sp>
        <p:nvSpPr>
          <p:cNvPr id="13" name="Shape 11"/>
          <p:cNvSpPr/>
          <p:nvPr/>
        </p:nvSpPr>
        <p:spPr>
          <a:xfrm>
            <a:off x="4709160" y="1508760"/>
            <a:ext cx="3794760" cy="3200400"/>
          </a:xfrm>
          <a:prstGeom prst="rect">
            <a:avLst/>
          </a:prstGeom>
          <a:solidFill>
            <a:srgbClr val="3D1A1A"/>
          </a:solidFill>
          <a:ln/>
        </p:spPr>
      </p:sp>
      <p:sp>
        <p:nvSpPr>
          <p:cNvPr id="14" name="Text 12"/>
          <p:cNvSpPr/>
          <p:nvPr/>
        </p:nvSpPr>
        <p:spPr>
          <a:xfrm>
            <a:off x="4937760" y="1645920"/>
            <a:ext cx="3337560" cy="274320"/>
          </a:xfrm>
          <a:prstGeom prst="rect">
            <a:avLst/>
          </a:prstGeom>
          <a:noFill/>
          <a:ln/>
        </p:spPr>
        <p:txBody>
          <a:bodyPr wrap="square" lIns="0" tIns="0" rIns="0" bIns="0" rtlCol="0" anchor="ctr"/>
          <a:lstStyle/>
          <a:p>
            <a:pPr indent="0" marL="0">
              <a:buNone/>
            </a:pPr>
            <a:r>
              <a:rPr lang="en-US" sz="900" b="1" spc="300" kern="0" dirty="0">
                <a:solidFill>
                  <a:srgbClr val="C8102E"/>
                </a:solidFill>
                <a:latin typeface="Calibri" pitchFamily="34" charset="0"/>
                <a:ea typeface="Calibri" pitchFamily="34" charset="-122"/>
                <a:cs typeface="Calibri" pitchFamily="34" charset="-120"/>
              </a:rPr>
              <a:t>LIMITATIONS &amp; OPEN QUESTIONS</a:t>
            </a:r>
            <a:endParaRPr lang="en-US" sz="900" dirty="0"/>
          </a:p>
        </p:txBody>
      </p:sp>
      <p:sp>
        <p:nvSpPr>
          <p:cNvPr id="15" name="Text 13"/>
          <p:cNvSpPr/>
          <p:nvPr/>
        </p:nvSpPr>
        <p:spPr>
          <a:xfrm>
            <a:off x="4937760" y="2011680"/>
            <a:ext cx="3337560" cy="548640"/>
          </a:xfrm>
          <a:prstGeom prst="rect">
            <a:avLst/>
          </a:prstGeom>
          <a:noFill/>
          <a:ln/>
        </p:spPr>
        <p:txBody>
          <a:bodyPr wrap="square" lIns="0" tIns="0" rIns="0" bIns="0" rtlCol="0" anchor="ctr"/>
          <a:lstStyle/>
          <a:p>
            <a:pPr indent="0" marL="0">
              <a:lnSpc>
                <a:spcPct val="130000"/>
              </a:lnSpc>
              <a:buNone/>
            </a:pPr>
            <a:r>
              <a:rPr lang="en-US" sz="1100" dirty="0">
                <a:solidFill>
                  <a:srgbClr val="F5D1D1"/>
                </a:solidFill>
                <a:latin typeface="Calibri" pitchFamily="34" charset="0"/>
                <a:ea typeface="Calibri" pitchFamily="34" charset="-122"/>
                <a:cs typeface="Calibri" pitchFamily="34" charset="-120"/>
              </a:rPr>
              <a:t>Temporal contamination: GPT-4 may know Friendsgiving from training data — retrieval, not generation?</a:t>
            </a:r>
            <a:endParaRPr lang="en-US" sz="1100" dirty="0"/>
          </a:p>
        </p:txBody>
      </p:sp>
      <p:sp>
        <p:nvSpPr>
          <p:cNvPr id="16" name="Text 14"/>
          <p:cNvSpPr/>
          <p:nvPr/>
        </p:nvSpPr>
        <p:spPr>
          <a:xfrm>
            <a:off x="4937760" y="2670048"/>
            <a:ext cx="3337560" cy="548640"/>
          </a:xfrm>
          <a:prstGeom prst="rect">
            <a:avLst/>
          </a:prstGeom>
          <a:noFill/>
          <a:ln/>
        </p:spPr>
        <p:txBody>
          <a:bodyPr wrap="square" lIns="0" tIns="0" rIns="0" bIns="0" rtlCol="0" anchor="ctr"/>
          <a:lstStyle/>
          <a:p>
            <a:pPr indent="0" marL="0">
              <a:lnSpc>
                <a:spcPct val="130000"/>
              </a:lnSpc>
              <a:buNone/>
            </a:pPr>
            <a:r>
              <a:rPr lang="en-US" sz="1100" dirty="0">
                <a:solidFill>
                  <a:srgbClr val="F5D1D1"/>
                </a:solidFill>
                <a:latin typeface="Calibri" pitchFamily="34" charset="0"/>
                <a:ea typeface="Calibri" pitchFamily="34" charset="-122"/>
                <a:cs typeface="Calibri" pitchFamily="34" charset="-120"/>
              </a:rPr>
              <a:t>Only 5 expert judges for qualitative assessment; small-N limits generalizability</a:t>
            </a:r>
            <a:endParaRPr lang="en-US" sz="1100" dirty="0"/>
          </a:p>
        </p:txBody>
      </p:sp>
      <p:sp>
        <p:nvSpPr>
          <p:cNvPr id="17" name="Text 15"/>
          <p:cNvSpPr/>
          <p:nvPr/>
        </p:nvSpPr>
        <p:spPr>
          <a:xfrm>
            <a:off x="4937760" y="3328416"/>
            <a:ext cx="3337560" cy="548640"/>
          </a:xfrm>
          <a:prstGeom prst="rect">
            <a:avLst/>
          </a:prstGeom>
          <a:noFill/>
          <a:ln/>
        </p:spPr>
        <p:txBody>
          <a:bodyPr wrap="square" lIns="0" tIns="0" rIns="0" bIns="0" rtlCol="0" anchor="ctr"/>
          <a:lstStyle/>
          <a:p>
            <a:pPr indent="0" marL="0">
              <a:lnSpc>
                <a:spcPct val="130000"/>
              </a:lnSpc>
              <a:buNone/>
            </a:pPr>
            <a:r>
              <a:rPr lang="en-US" sz="1100" dirty="0">
                <a:solidFill>
                  <a:srgbClr val="F5D1D1"/>
                </a:solidFill>
                <a:latin typeface="Calibri" pitchFamily="34" charset="0"/>
                <a:ea typeface="Calibri" pitchFamily="34" charset="-122"/>
                <a:cs typeface="Calibri" pitchFamily="34" charset="-120"/>
              </a:rPr>
              <a:t>All results GPT-4-specific; no cross-model validation (Claude, Llama, Gemini)</a:t>
            </a:r>
            <a:endParaRPr lang="en-US" sz="1100" dirty="0"/>
          </a:p>
        </p:txBody>
      </p:sp>
      <p:sp>
        <p:nvSpPr>
          <p:cNvPr id="18" name="Text 16"/>
          <p:cNvSpPr/>
          <p:nvPr/>
        </p:nvSpPr>
        <p:spPr>
          <a:xfrm>
            <a:off x="4937760" y="3986784"/>
            <a:ext cx="3337560" cy="548640"/>
          </a:xfrm>
          <a:prstGeom prst="rect">
            <a:avLst/>
          </a:prstGeom>
          <a:noFill/>
          <a:ln/>
        </p:spPr>
        <p:txBody>
          <a:bodyPr wrap="square" lIns="0" tIns="0" rIns="0" bIns="0" rtlCol="0" anchor="ctr"/>
          <a:lstStyle/>
          <a:p>
            <a:pPr indent="0" marL="0">
              <a:lnSpc>
                <a:spcPct val="130000"/>
              </a:lnSpc>
              <a:buNone/>
            </a:pPr>
            <a:r>
              <a:rPr lang="en-US" sz="1100" dirty="0">
                <a:solidFill>
                  <a:srgbClr val="F5D1D1"/>
                </a:solidFill>
                <a:latin typeface="Calibri" pitchFamily="34" charset="0"/>
                <a:ea typeface="Calibri" pitchFamily="34" charset="-122"/>
                <a:cs typeface="Calibri" pitchFamily="34" charset="-120"/>
              </a:rPr>
              <a:t>No cost or time data despite claims of “efficiency gains”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3657600" cy="320040"/>
          </a:xfrm>
          <a:prstGeom prst="rect">
            <a:avLst/>
          </a:prstGeom>
          <a:noFill/>
          <a:ln/>
        </p:spPr>
        <p:txBody>
          <a:bodyPr wrap="square" lIns="0" tIns="0" rIns="0" bIns="0" rtlCol="0" anchor="ctr"/>
          <a:lstStyle/>
          <a:p>
            <a:pPr indent="0" marL="0">
              <a:buNone/>
            </a:pPr>
            <a:r>
              <a:rPr lang="en-US" sz="1000" b="1" spc="400" kern="0" dirty="0">
                <a:solidFill>
                  <a:srgbClr val="D4AF37"/>
                </a:solidFill>
                <a:latin typeface="Calibri" pitchFamily="34" charset="0"/>
                <a:ea typeface="Calibri" pitchFamily="34" charset="-122"/>
                <a:cs typeface="Calibri" pitchFamily="34" charset="-120"/>
              </a:rPr>
              <a:t>LIVE DEMONSTRATION</a:t>
            </a:r>
            <a:endParaRPr lang="en-US" sz="1000" dirty="0"/>
          </a:p>
        </p:txBody>
      </p:sp>
      <p:sp>
        <p:nvSpPr>
          <p:cNvPr id="3" name="Text 1"/>
          <p:cNvSpPr/>
          <p:nvPr/>
        </p:nvSpPr>
        <p:spPr>
          <a:xfrm>
            <a:off x="640080" y="731520"/>
            <a:ext cx="7863840" cy="502920"/>
          </a:xfrm>
          <a:prstGeom prst="rect">
            <a:avLst/>
          </a:prstGeom>
          <a:noFill/>
          <a:ln/>
        </p:spPr>
        <p:txBody>
          <a:bodyPr wrap="square" lIns="0" tIns="0" rIns="0" bIns="0" rtlCol="0" anchor="ctr"/>
          <a:lstStyle/>
          <a:p>
            <a:pPr indent="0" marL="0">
              <a:buNone/>
            </a:pPr>
            <a:r>
              <a:rPr lang="en-US" sz="2200" dirty="0">
                <a:solidFill>
                  <a:srgbClr val="1D1D1F"/>
                </a:solidFill>
                <a:latin typeface="Georgia" pitchFamily="34" charset="0"/>
                <a:ea typeface="Georgia" pitchFamily="34" charset="-122"/>
                <a:cs typeface="Georgia" pitchFamily="34" charset="-120"/>
              </a:rPr>
              <a:t>Replicating the Method with Claude Opus 4.6</a:t>
            </a:r>
            <a:endParaRPr lang="en-US" sz="2200" dirty="0"/>
          </a:p>
        </p:txBody>
      </p:sp>
      <p:sp>
        <p:nvSpPr>
          <p:cNvPr id="4" name="Text 2"/>
          <p:cNvSpPr/>
          <p:nvPr/>
        </p:nvSpPr>
        <p:spPr>
          <a:xfrm>
            <a:off x="640080" y="1325880"/>
            <a:ext cx="7863840" cy="594360"/>
          </a:xfrm>
          <a:prstGeom prst="rect">
            <a:avLst/>
          </a:prstGeom>
          <a:noFill/>
          <a:ln/>
        </p:spPr>
        <p:txBody>
          <a:bodyPr wrap="square" lIns="0" tIns="0" rIns="0" bIns="0" rtlCol="0" anchor="ctr"/>
          <a:lstStyle/>
          <a:p>
            <a:pPr indent="0" marL="0">
              <a:lnSpc>
                <a:spcPct val="130000"/>
              </a:lnSpc>
              <a:buNone/>
            </a:pPr>
            <a:r>
              <a:rPr lang="en-US" sz="1300" dirty="0">
                <a:solidFill>
                  <a:srgbClr val="636366"/>
                </a:solidFill>
                <a:latin typeface="Calibri" pitchFamily="34" charset="0"/>
                <a:ea typeface="Calibri" pitchFamily="34" charset="-122"/>
                <a:cs typeface="Calibri" pitchFamily="34" charset="-120"/>
              </a:rPr>
              <a:t>Dr. Du asked us to “be prepared to show how you use GenAI to refine and enrich your proposed research ideas.” Here’s how I’m using the same human–LLM hybrid method from this paper — with Claude Opus 4.6 as my collaborator.</a:t>
            </a:r>
            <a:endParaRPr lang="en-US" sz="1300" dirty="0"/>
          </a:p>
        </p:txBody>
      </p:sp>
      <p:sp>
        <p:nvSpPr>
          <p:cNvPr id="5" name="Shape 3"/>
          <p:cNvSpPr/>
          <p:nvPr/>
        </p:nvSpPr>
        <p:spPr>
          <a:xfrm>
            <a:off x="640080" y="2103120"/>
            <a:ext cx="7863840" cy="530352"/>
          </a:xfrm>
          <a:prstGeom prst="rect">
            <a:avLst/>
          </a:prstGeom>
          <a:solidFill>
            <a:srgbClr val="FAF9F6"/>
          </a:solidFill>
          <a:ln/>
        </p:spPr>
      </p:sp>
      <p:sp>
        <p:nvSpPr>
          <p:cNvPr id="6" name="Shape 4"/>
          <p:cNvSpPr/>
          <p:nvPr/>
        </p:nvSpPr>
        <p:spPr>
          <a:xfrm>
            <a:off x="640080" y="2103120"/>
            <a:ext cx="54864" cy="530352"/>
          </a:xfrm>
          <a:prstGeom prst="rect">
            <a:avLst/>
          </a:prstGeom>
          <a:solidFill>
            <a:srgbClr val="006B3F"/>
          </a:solidFill>
          <a:ln/>
        </p:spPr>
      </p:sp>
      <p:sp>
        <p:nvSpPr>
          <p:cNvPr id="7" name="Text 5"/>
          <p:cNvSpPr/>
          <p:nvPr/>
        </p:nvSpPr>
        <p:spPr>
          <a:xfrm>
            <a:off x="914400" y="2103120"/>
            <a:ext cx="457200" cy="530352"/>
          </a:xfrm>
          <a:prstGeom prst="rect">
            <a:avLst/>
          </a:prstGeom>
          <a:noFill/>
          <a:ln/>
        </p:spPr>
        <p:txBody>
          <a:bodyPr wrap="square" lIns="0" tIns="0" rIns="0" bIns="0" rtlCol="0" anchor="ctr"/>
          <a:lstStyle/>
          <a:p>
            <a:pPr indent="0" marL="0">
              <a:buNone/>
            </a:pPr>
            <a:r>
              <a:rPr lang="en-US" sz="1300" dirty="0">
                <a:solidFill>
                  <a:srgbClr val="D4AF37"/>
                </a:solidFill>
                <a:latin typeface="Georgia" pitchFamily="34" charset="0"/>
                <a:ea typeface="Georgia" pitchFamily="34" charset="-122"/>
                <a:cs typeface="Georgia" pitchFamily="34" charset="-120"/>
              </a:rPr>
              <a:t>01</a:t>
            </a:r>
            <a:endParaRPr lang="en-US" sz="1300" dirty="0"/>
          </a:p>
        </p:txBody>
      </p:sp>
      <p:sp>
        <p:nvSpPr>
          <p:cNvPr id="8" name="Text 6"/>
          <p:cNvSpPr/>
          <p:nvPr/>
        </p:nvSpPr>
        <p:spPr>
          <a:xfrm>
            <a:off x="1371600" y="2103120"/>
            <a:ext cx="1554480" cy="530352"/>
          </a:xfrm>
          <a:prstGeom prst="rect">
            <a:avLst/>
          </a:prstGeom>
          <a:noFill/>
          <a:ln/>
        </p:spPr>
        <p:txBody>
          <a:bodyPr wrap="square" lIns="0" tIns="0" rIns="0" bIns="0" rtlCol="0" anchor="ctr"/>
          <a:lstStyle/>
          <a:p>
            <a:pPr indent="0" marL="0">
              <a:buNone/>
            </a:pPr>
            <a:r>
              <a:rPr lang="en-US" sz="1200" b="1" dirty="0">
                <a:solidFill>
                  <a:srgbClr val="1D1D1F"/>
                </a:solidFill>
                <a:latin typeface="Georgia" pitchFamily="34" charset="0"/>
                <a:ea typeface="Georgia" pitchFamily="34" charset="-122"/>
                <a:cs typeface="Georgia" pitchFamily="34" charset="-120"/>
              </a:rPr>
              <a:t>Cognitive Scaffold</a:t>
            </a:r>
            <a:endParaRPr lang="en-US" sz="1200" dirty="0"/>
          </a:p>
        </p:txBody>
      </p:sp>
      <p:sp>
        <p:nvSpPr>
          <p:cNvPr id="9" name="Text 7"/>
          <p:cNvSpPr/>
          <p:nvPr/>
        </p:nvSpPr>
        <p:spPr>
          <a:xfrm>
            <a:off x="3017520" y="2103120"/>
            <a:ext cx="5303520" cy="530352"/>
          </a:xfrm>
          <a:prstGeom prst="rect">
            <a:avLst/>
          </a:prstGeom>
          <a:noFill/>
          <a:ln/>
        </p:spPr>
        <p:txBody>
          <a:bodyPr wrap="square" lIns="0" tIns="0" rIns="0" bIns="0" rtlCol="0" anchor="ctr"/>
          <a:lstStyle/>
          <a:p>
            <a:pPr indent="0" marL="0">
              <a:buNone/>
            </a:pPr>
            <a:r>
              <a:rPr lang="en-US" sz="1050" dirty="0">
                <a:solidFill>
                  <a:srgbClr val="48484A"/>
                </a:solidFill>
                <a:latin typeface="Calibri" pitchFamily="34" charset="0"/>
                <a:ea typeface="Calibri" pitchFamily="34" charset="-122"/>
                <a:cs typeface="Calibri" pitchFamily="34" charset="-120"/>
              </a:rPr>
              <a:t>Claude as external executive-function support — structuring research, chunking tasks, tracking progress (like Table 1)</a:t>
            </a:r>
            <a:endParaRPr lang="en-US" sz="1050" dirty="0"/>
          </a:p>
        </p:txBody>
      </p:sp>
      <p:sp>
        <p:nvSpPr>
          <p:cNvPr id="10" name="Shape 8"/>
          <p:cNvSpPr/>
          <p:nvPr/>
        </p:nvSpPr>
        <p:spPr>
          <a:xfrm>
            <a:off x="640080" y="2743200"/>
            <a:ext cx="7863840" cy="530352"/>
          </a:xfrm>
          <a:prstGeom prst="rect">
            <a:avLst/>
          </a:prstGeom>
          <a:solidFill>
            <a:srgbClr val="FAF9F6"/>
          </a:solidFill>
          <a:ln/>
        </p:spPr>
      </p:sp>
      <p:sp>
        <p:nvSpPr>
          <p:cNvPr id="11" name="Shape 9"/>
          <p:cNvSpPr/>
          <p:nvPr/>
        </p:nvSpPr>
        <p:spPr>
          <a:xfrm>
            <a:off x="640080" y="2743200"/>
            <a:ext cx="54864" cy="530352"/>
          </a:xfrm>
          <a:prstGeom prst="rect">
            <a:avLst/>
          </a:prstGeom>
          <a:solidFill>
            <a:srgbClr val="D4AF37"/>
          </a:solidFill>
          <a:ln/>
        </p:spPr>
      </p:sp>
      <p:sp>
        <p:nvSpPr>
          <p:cNvPr id="12" name="Text 10"/>
          <p:cNvSpPr/>
          <p:nvPr/>
        </p:nvSpPr>
        <p:spPr>
          <a:xfrm>
            <a:off x="914400" y="2743200"/>
            <a:ext cx="457200" cy="530352"/>
          </a:xfrm>
          <a:prstGeom prst="rect">
            <a:avLst/>
          </a:prstGeom>
          <a:noFill/>
          <a:ln/>
        </p:spPr>
        <p:txBody>
          <a:bodyPr wrap="square" lIns="0" tIns="0" rIns="0" bIns="0" rtlCol="0" anchor="ctr"/>
          <a:lstStyle/>
          <a:p>
            <a:pPr indent="0" marL="0">
              <a:buNone/>
            </a:pPr>
            <a:r>
              <a:rPr lang="en-US" sz="1300" dirty="0">
                <a:solidFill>
                  <a:srgbClr val="D4AF37"/>
                </a:solidFill>
                <a:latin typeface="Georgia" pitchFamily="34" charset="0"/>
                <a:ea typeface="Georgia" pitchFamily="34" charset="-122"/>
                <a:cs typeface="Georgia" pitchFamily="34" charset="-120"/>
              </a:rPr>
              <a:t>02</a:t>
            </a:r>
            <a:endParaRPr lang="en-US" sz="1300" dirty="0"/>
          </a:p>
        </p:txBody>
      </p:sp>
      <p:sp>
        <p:nvSpPr>
          <p:cNvPr id="13" name="Text 11"/>
          <p:cNvSpPr/>
          <p:nvPr/>
        </p:nvSpPr>
        <p:spPr>
          <a:xfrm>
            <a:off x="1371600" y="2743200"/>
            <a:ext cx="1554480" cy="530352"/>
          </a:xfrm>
          <a:prstGeom prst="rect">
            <a:avLst/>
          </a:prstGeom>
          <a:noFill/>
          <a:ln/>
        </p:spPr>
        <p:txBody>
          <a:bodyPr wrap="square" lIns="0" tIns="0" rIns="0" bIns="0" rtlCol="0" anchor="ctr"/>
          <a:lstStyle/>
          <a:p>
            <a:pPr indent="0" marL="0">
              <a:buNone/>
            </a:pPr>
            <a:r>
              <a:rPr lang="en-US" sz="1200" b="1" dirty="0">
                <a:solidFill>
                  <a:srgbClr val="1D1D1F"/>
                </a:solidFill>
                <a:latin typeface="Georgia" pitchFamily="34" charset="0"/>
                <a:ea typeface="Georgia" pitchFamily="34" charset="-122"/>
                <a:cs typeface="Georgia" pitchFamily="34" charset="-120"/>
              </a:rPr>
              <a:t>Reading Preparation</a:t>
            </a:r>
            <a:endParaRPr lang="en-US" sz="1200" dirty="0"/>
          </a:p>
        </p:txBody>
      </p:sp>
      <p:sp>
        <p:nvSpPr>
          <p:cNvPr id="14" name="Text 12"/>
          <p:cNvSpPr/>
          <p:nvPr/>
        </p:nvSpPr>
        <p:spPr>
          <a:xfrm>
            <a:off x="3017520" y="2743200"/>
            <a:ext cx="5303520" cy="530352"/>
          </a:xfrm>
          <a:prstGeom prst="rect">
            <a:avLst/>
          </a:prstGeom>
          <a:noFill/>
          <a:ln/>
        </p:spPr>
        <p:txBody>
          <a:bodyPr wrap="square" lIns="0" tIns="0" rIns="0" bIns="0" rtlCol="0" anchor="ctr"/>
          <a:lstStyle/>
          <a:p>
            <a:pPr indent="0" marL="0">
              <a:buNone/>
            </a:pPr>
            <a:r>
              <a:rPr lang="en-US" sz="1050" dirty="0">
                <a:solidFill>
                  <a:srgbClr val="48484A"/>
                </a:solidFill>
                <a:latin typeface="Calibri" pitchFamily="34" charset="0"/>
                <a:ea typeface="Calibri" pitchFamily="34" charset="-122"/>
                <a:cs typeface="Calibri" pitchFamily="34" charset="-120"/>
              </a:rPr>
              <a:t>Analyzed 6 Harvard writing guides, produced a 5-lens critical reading guide grounded in cross-disciplinary frameworks</a:t>
            </a:r>
            <a:endParaRPr lang="en-US" sz="1050" dirty="0"/>
          </a:p>
        </p:txBody>
      </p:sp>
      <p:sp>
        <p:nvSpPr>
          <p:cNvPr id="15" name="Shape 13"/>
          <p:cNvSpPr/>
          <p:nvPr/>
        </p:nvSpPr>
        <p:spPr>
          <a:xfrm>
            <a:off x="640080" y="3383280"/>
            <a:ext cx="7863840" cy="530352"/>
          </a:xfrm>
          <a:prstGeom prst="rect">
            <a:avLst/>
          </a:prstGeom>
          <a:solidFill>
            <a:srgbClr val="FAF9F6"/>
          </a:solidFill>
          <a:ln/>
        </p:spPr>
      </p:sp>
      <p:sp>
        <p:nvSpPr>
          <p:cNvPr id="16" name="Shape 14"/>
          <p:cNvSpPr/>
          <p:nvPr/>
        </p:nvSpPr>
        <p:spPr>
          <a:xfrm>
            <a:off x="640080" y="3383280"/>
            <a:ext cx="54864" cy="530352"/>
          </a:xfrm>
          <a:prstGeom prst="rect">
            <a:avLst/>
          </a:prstGeom>
          <a:solidFill>
            <a:srgbClr val="C8102E"/>
          </a:solidFill>
          <a:ln/>
        </p:spPr>
      </p:sp>
      <p:sp>
        <p:nvSpPr>
          <p:cNvPr id="17" name="Text 15"/>
          <p:cNvSpPr/>
          <p:nvPr/>
        </p:nvSpPr>
        <p:spPr>
          <a:xfrm>
            <a:off x="914400" y="3383280"/>
            <a:ext cx="457200" cy="530352"/>
          </a:xfrm>
          <a:prstGeom prst="rect">
            <a:avLst/>
          </a:prstGeom>
          <a:noFill/>
          <a:ln/>
        </p:spPr>
        <p:txBody>
          <a:bodyPr wrap="square" lIns="0" tIns="0" rIns="0" bIns="0" rtlCol="0" anchor="ctr"/>
          <a:lstStyle/>
          <a:p>
            <a:pPr indent="0" marL="0">
              <a:buNone/>
            </a:pPr>
            <a:r>
              <a:rPr lang="en-US" sz="1300" dirty="0">
                <a:solidFill>
                  <a:srgbClr val="D4AF37"/>
                </a:solidFill>
                <a:latin typeface="Georgia" pitchFamily="34" charset="0"/>
                <a:ea typeface="Georgia" pitchFamily="34" charset="-122"/>
                <a:cs typeface="Georgia" pitchFamily="34" charset="-120"/>
              </a:rPr>
              <a:t>03</a:t>
            </a:r>
            <a:endParaRPr lang="en-US" sz="1300" dirty="0"/>
          </a:p>
        </p:txBody>
      </p:sp>
      <p:sp>
        <p:nvSpPr>
          <p:cNvPr id="18" name="Text 16"/>
          <p:cNvSpPr/>
          <p:nvPr/>
        </p:nvSpPr>
        <p:spPr>
          <a:xfrm>
            <a:off x="1371600" y="3383280"/>
            <a:ext cx="1554480" cy="530352"/>
          </a:xfrm>
          <a:prstGeom prst="rect">
            <a:avLst/>
          </a:prstGeom>
          <a:noFill/>
          <a:ln/>
        </p:spPr>
        <p:txBody>
          <a:bodyPr wrap="square" lIns="0" tIns="0" rIns="0" bIns="0" rtlCol="0" anchor="ctr"/>
          <a:lstStyle/>
          <a:p>
            <a:pPr indent="0" marL="0">
              <a:buNone/>
            </a:pPr>
            <a:r>
              <a:rPr lang="en-US" sz="1200" b="1" dirty="0">
                <a:solidFill>
                  <a:srgbClr val="1D1D1F"/>
                </a:solidFill>
                <a:latin typeface="Georgia" pitchFamily="34" charset="0"/>
                <a:ea typeface="Georgia" pitchFamily="34" charset="-122"/>
                <a:cs typeface="Georgia" pitchFamily="34" charset="-120"/>
              </a:rPr>
              <a:t>Research Ideation</a:t>
            </a:r>
            <a:endParaRPr lang="en-US" sz="1200" dirty="0"/>
          </a:p>
        </p:txBody>
      </p:sp>
      <p:sp>
        <p:nvSpPr>
          <p:cNvPr id="19" name="Text 17"/>
          <p:cNvSpPr/>
          <p:nvPr/>
        </p:nvSpPr>
        <p:spPr>
          <a:xfrm>
            <a:off x="3017520" y="3383280"/>
            <a:ext cx="5303520" cy="530352"/>
          </a:xfrm>
          <a:prstGeom prst="rect">
            <a:avLst/>
          </a:prstGeom>
          <a:noFill/>
          <a:ln/>
        </p:spPr>
        <p:txBody>
          <a:bodyPr wrap="square" lIns="0" tIns="0" rIns="0" bIns="0" rtlCol="0" anchor="ctr"/>
          <a:lstStyle/>
          <a:p>
            <a:pPr indent="0" marL="0">
              <a:buNone/>
            </a:pPr>
            <a:r>
              <a:rPr lang="en-US" sz="1050" dirty="0">
                <a:solidFill>
                  <a:srgbClr val="48484A"/>
                </a:solidFill>
                <a:latin typeface="Calibri" pitchFamily="34" charset="0"/>
                <a:ea typeface="Calibri" pitchFamily="34" charset="-122"/>
                <a:cs typeface="Calibri" pitchFamily="34" charset="-120"/>
              </a:rPr>
              <a:t>Exploring AI–human hybrids for health communication — using Claude for synthetic respondent data on stress-body beliefs</a:t>
            </a:r>
            <a:endParaRPr lang="en-US" sz="1050" dirty="0"/>
          </a:p>
        </p:txBody>
      </p:sp>
      <p:sp>
        <p:nvSpPr>
          <p:cNvPr id="20" name="Shape 18"/>
          <p:cNvSpPr/>
          <p:nvPr/>
        </p:nvSpPr>
        <p:spPr>
          <a:xfrm>
            <a:off x="640080" y="4023360"/>
            <a:ext cx="7863840" cy="530352"/>
          </a:xfrm>
          <a:prstGeom prst="rect">
            <a:avLst/>
          </a:prstGeom>
          <a:solidFill>
            <a:srgbClr val="FAF9F6"/>
          </a:solidFill>
          <a:ln/>
        </p:spPr>
      </p:sp>
      <p:sp>
        <p:nvSpPr>
          <p:cNvPr id="21" name="Shape 19"/>
          <p:cNvSpPr/>
          <p:nvPr/>
        </p:nvSpPr>
        <p:spPr>
          <a:xfrm>
            <a:off x="640080" y="4023360"/>
            <a:ext cx="54864" cy="530352"/>
          </a:xfrm>
          <a:prstGeom prst="rect">
            <a:avLst/>
          </a:prstGeom>
          <a:solidFill>
            <a:srgbClr val="1D1D1F"/>
          </a:solidFill>
          <a:ln/>
        </p:spPr>
      </p:sp>
      <p:sp>
        <p:nvSpPr>
          <p:cNvPr id="22" name="Text 20"/>
          <p:cNvSpPr/>
          <p:nvPr/>
        </p:nvSpPr>
        <p:spPr>
          <a:xfrm>
            <a:off x="914400" y="4023360"/>
            <a:ext cx="457200" cy="530352"/>
          </a:xfrm>
          <a:prstGeom prst="rect">
            <a:avLst/>
          </a:prstGeom>
          <a:noFill/>
          <a:ln/>
        </p:spPr>
        <p:txBody>
          <a:bodyPr wrap="square" lIns="0" tIns="0" rIns="0" bIns="0" rtlCol="0" anchor="ctr"/>
          <a:lstStyle/>
          <a:p>
            <a:pPr indent="0" marL="0">
              <a:buNone/>
            </a:pPr>
            <a:r>
              <a:rPr lang="en-US" sz="1300" dirty="0">
                <a:solidFill>
                  <a:srgbClr val="D4AF37"/>
                </a:solidFill>
                <a:latin typeface="Georgia" pitchFamily="34" charset="0"/>
                <a:ea typeface="Georgia" pitchFamily="34" charset="-122"/>
                <a:cs typeface="Georgia" pitchFamily="34" charset="-120"/>
              </a:rPr>
              <a:t>04</a:t>
            </a:r>
            <a:endParaRPr lang="en-US" sz="1300" dirty="0"/>
          </a:p>
        </p:txBody>
      </p:sp>
      <p:sp>
        <p:nvSpPr>
          <p:cNvPr id="23" name="Text 21"/>
          <p:cNvSpPr/>
          <p:nvPr/>
        </p:nvSpPr>
        <p:spPr>
          <a:xfrm>
            <a:off x="1371600" y="4023360"/>
            <a:ext cx="1554480" cy="530352"/>
          </a:xfrm>
          <a:prstGeom prst="rect">
            <a:avLst/>
          </a:prstGeom>
          <a:noFill/>
          <a:ln/>
        </p:spPr>
        <p:txBody>
          <a:bodyPr wrap="square" lIns="0" tIns="0" rIns="0" bIns="0" rtlCol="0" anchor="ctr"/>
          <a:lstStyle/>
          <a:p>
            <a:pPr indent="0" marL="0">
              <a:buNone/>
            </a:pPr>
            <a:r>
              <a:rPr lang="en-US" sz="1200" b="1" dirty="0">
                <a:solidFill>
                  <a:srgbClr val="1D1D1F"/>
                </a:solidFill>
                <a:latin typeface="Georgia" pitchFamily="34" charset="0"/>
                <a:ea typeface="Georgia" pitchFamily="34" charset="-122"/>
                <a:cs typeface="Georgia" pitchFamily="34" charset="-120"/>
              </a:rPr>
              <a:t>This Presentation</a:t>
            </a:r>
            <a:endParaRPr lang="en-US" sz="1200" dirty="0"/>
          </a:p>
        </p:txBody>
      </p:sp>
      <p:sp>
        <p:nvSpPr>
          <p:cNvPr id="24" name="Text 22"/>
          <p:cNvSpPr/>
          <p:nvPr/>
        </p:nvSpPr>
        <p:spPr>
          <a:xfrm>
            <a:off x="3017520" y="4023360"/>
            <a:ext cx="5303520" cy="530352"/>
          </a:xfrm>
          <a:prstGeom prst="rect">
            <a:avLst/>
          </a:prstGeom>
          <a:noFill/>
          <a:ln/>
        </p:spPr>
        <p:txBody>
          <a:bodyPr wrap="square" lIns="0" tIns="0" rIns="0" bIns="0" rtlCol="0" anchor="ctr"/>
          <a:lstStyle/>
          <a:p>
            <a:pPr indent="0" marL="0">
              <a:buNone/>
            </a:pPr>
            <a:r>
              <a:rPr lang="en-US" sz="1050" dirty="0">
                <a:solidFill>
                  <a:srgbClr val="48484A"/>
                </a:solidFill>
                <a:latin typeface="Calibri" pitchFamily="34" charset="0"/>
                <a:ea typeface="Calibri" pitchFamily="34" charset="-122"/>
                <a:cs typeface="Calibri" pitchFamily="34" charset="-120"/>
              </a:rPr>
              <a:t>Claude built these slides from the paper analysis. PDF reading → critical evaluation → slide generation = hybrid method in action</a:t>
            </a:r>
            <a:endParaRPr lang="en-US" sz="1050" dirty="0"/>
          </a:p>
        </p:txBody>
      </p:sp>
      <p:sp>
        <p:nvSpPr>
          <p:cNvPr id="25" name="Shape 23"/>
          <p:cNvSpPr/>
          <p:nvPr/>
        </p:nvSpPr>
        <p:spPr>
          <a:xfrm>
            <a:off x="640080" y="4434840"/>
            <a:ext cx="7863840" cy="0"/>
          </a:xfrm>
          <a:prstGeom prst="line">
            <a:avLst/>
          </a:prstGeom>
          <a:noFill/>
          <a:ln w="6350">
            <a:solidFill>
              <a:srgbClr val="D4AF37"/>
            </a:solidFill>
            <a:prstDash val="solid"/>
          </a:ln>
        </p:spPr>
      </p:sp>
      <p:sp>
        <p:nvSpPr>
          <p:cNvPr id="26" name="Text 24"/>
          <p:cNvSpPr/>
          <p:nvPr/>
        </p:nvSpPr>
        <p:spPr>
          <a:xfrm>
            <a:off x="640080" y="4526280"/>
            <a:ext cx="7863840" cy="365760"/>
          </a:xfrm>
          <a:prstGeom prst="rect">
            <a:avLst/>
          </a:prstGeom>
          <a:noFill/>
          <a:ln/>
        </p:spPr>
        <p:txBody>
          <a:bodyPr wrap="square" lIns="0" tIns="0" rIns="0" bIns="0" rtlCol="0" anchor="ctr"/>
          <a:lstStyle/>
          <a:p>
            <a:pPr indent="0" marL="0">
              <a:buNone/>
            </a:pPr>
            <a:r>
              <a:rPr lang="en-US" sz="1050" i="1" dirty="0">
                <a:solidFill>
                  <a:srgbClr val="636366"/>
                </a:solidFill>
                <a:latin typeface="Calibri" pitchFamily="34" charset="0"/>
                <a:ea typeface="Calibri" pitchFamily="34" charset="-122"/>
                <a:cs typeface="Calibri" pitchFamily="34" charset="-120"/>
              </a:rPr>
              <a:t>Meta-point: This workflow is itself a test of the paper’s thesis. I bring domain knowledge and critical judgment; Claude brings processing speed and structured output. Neither alone produces this result.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640080" y="365760"/>
            <a:ext cx="2743200" cy="320040"/>
          </a:xfrm>
          <a:prstGeom prst="rect">
            <a:avLst/>
          </a:prstGeom>
          <a:noFill/>
          <a:ln/>
        </p:spPr>
        <p:txBody>
          <a:bodyPr wrap="square" lIns="0" tIns="0" rIns="0" bIns="0" rtlCol="0" anchor="ctr"/>
          <a:lstStyle/>
          <a:p>
            <a:pPr indent="0" marL="0">
              <a:buNone/>
            </a:pPr>
            <a:r>
              <a:rPr lang="en-US" sz="1000" b="1" spc="400" kern="0" dirty="0">
                <a:solidFill>
                  <a:srgbClr val="D4AF37"/>
                </a:solidFill>
                <a:latin typeface="Calibri" pitchFamily="34" charset="0"/>
                <a:ea typeface="Calibri" pitchFamily="34" charset="-122"/>
                <a:cs typeface="Calibri" pitchFamily="34" charset="-120"/>
              </a:rPr>
              <a:t>DISCUSSION</a:t>
            </a:r>
            <a:endParaRPr lang="en-US" sz="1000" dirty="0"/>
          </a:p>
        </p:txBody>
      </p:sp>
      <p:sp>
        <p:nvSpPr>
          <p:cNvPr id="3" name="Shape 1"/>
          <p:cNvSpPr/>
          <p:nvPr/>
        </p:nvSpPr>
        <p:spPr>
          <a:xfrm>
            <a:off x="2011680" y="475488"/>
            <a:ext cx="365760" cy="32004"/>
          </a:xfrm>
          <a:prstGeom prst="rect">
            <a:avLst/>
          </a:prstGeom>
          <a:solidFill>
            <a:srgbClr val="006B3F"/>
          </a:solidFill>
          <a:ln/>
        </p:spPr>
      </p:sp>
      <p:sp>
        <p:nvSpPr>
          <p:cNvPr id="4" name="Shape 2"/>
          <p:cNvSpPr/>
          <p:nvPr/>
        </p:nvSpPr>
        <p:spPr>
          <a:xfrm>
            <a:off x="2423160" y="475488"/>
            <a:ext cx="365760" cy="32004"/>
          </a:xfrm>
          <a:prstGeom prst="rect">
            <a:avLst/>
          </a:prstGeom>
          <a:solidFill>
            <a:srgbClr val="C8102E"/>
          </a:solidFill>
          <a:ln/>
        </p:spPr>
      </p:sp>
      <p:sp>
        <p:nvSpPr>
          <p:cNvPr id="5" name="Shape 3"/>
          <p:cNvSpPr/>
          <p:nvPr/>
        </p:nvSpPr>
        <p:spPr>
          <a:xfrm>
            <a:off x="2834640" y="475488"/>
            <a:ext cx="365760" cy="32004"/>
          </a:xfrm>
          <a:prstGeom prst="rect">
            <a:avLst/>
          </a:prstGeom>
          <a:solidFill>
            <a:srgbClr val="006B3F"/>
          </a:solidFill>
          <a:ln/>
        </p:spPr>
      </p:sp>
      <p:sp>
        <p:nvSpPr>
          <p:cNvPr id="6" name="Text 4"/>
          <p:cNvSpPr/>
          <p:nvPr/>
        </p:nvSpPr>
        <p:spPr>
          <a:xfrm>
            <a:off x="640080" y="777240"/>
            <a:ext cx="7863840" cy="502920"/>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Questions for the Class</a:t>
            </a:r>
            <a:endParaRPr lang="en-US" sz="2400" dirty="0"/>
          </a:p>
        </p:txBody>
      </p:sp>
      <p:sp>
        <p:nvSpPr>
          <p:cNvPr id="7" name="Shape 5"/>
          <p:cNvSpPr/>
          <p:nvPr/>
        </p:nvSpPr>
        <p:spPr>
          <a:xfrm>
            <a:off x="640080" y="1417320"/>
            <a:ext cx="7863840" cy="658368"/>
          </a:xfrm>
          <a:prstGeom prst="rect">
            <a:avLst/>
          </a:prstGeom>
          <a:solidFill>
            <a:srgbClr val="2A2A2C"/>
          </a:solidFill>
          <a:ln/>
        </p:spPr>
      </p:sp>
      <p:sp>
        <p:nvSpPr>
          <p:cNvPr id="8" name="Text 6"/>
          <p:cNvSpPr/>
          <p:nvPr/>
        </p:nvSpPr>
        <p:spPr>
          <a:xfrm>
            <a:off x="868680" y="1490472"/>
            <a:ext cx="1097280" cy="201168"/>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VALIDITY</a:t>
            </a:r>
            <a:endParaRPr lang="en-US" sz="900" dirty="0"/>
          </a:p>
        </p:txBody>
      </p:sp>
      <p:sp>
        <p:nvSpPr>
          <p:cNvPr id="9" name="Text 7"/>
          <p:cNvSpPr/>
          <p:nvPr/>
        </p:nvSpPr>
        <p:spPr>
          <a:xfrm>
            <a:off x="868680" y="1691640"/>
            <a:ext cx="7406640" cy="329184"/>
          </a:xfrm>
          <a:prstGeom prst="rect">
            <a:avLst/>
          </a:prstGeom>
          <a:noFill/>
          <a:ln/>
        </p:spPr>
        <p:txBody>
          <a:bodyPr wrap="square" lIns="0" tIns="0" rIns="0" bIns="0" rtlCol="0" anchor="ctr"/>
          <a:lstStyle/>
          <a:p>
            <a:pPr indent="0" marL="0">
              <a:buNone/>
            </a:pPr>
            <a:r>
              <a:rPr lang="en-US" sz="1200" dirty="0">
                <a:solidFill>
                  <a:srgbClr val="FAF9F6"/>
                </a:solidFill>
                <a:latin typeface="Calibri" pitchFamily="34" charset="0"/>
                <a:ea typeface="Calibri" pitchFamily="34" charset="-122"/>
                <a:cs typeface="Calibri" pitchFamily="34" charset="-120"/>
              </a:rPr>
              <a:t>If GPT-4 was trained on Friendsgiving content, is Study 1 measuring generation or retrieval? How would you design a cleaner test?</a:t>
            </a:r>
            <a:endParaRPr lang="en-US" sz="1200" dirty="0"/>
          </a:p>
        </p:txBody>
      </p:sp>
      <p:sp>
        <p:nvSpPr>
          <p:cNvPr id="10" name="Shape 8"/>
          <p:cNvSpPr/>
          <p:nvPr/>
        </p:nvSpPr>
        <p:spPr>
          <a:xfrm>
            <a:off x="640080" y="2194560"/>
            <a:ext cx="7863840" cy="658368"/>
          </a:xfrm>
          <a:prstGeom prst="rect">
            <a:avLst/>
          </a:prstGeom>
          <a:solidFill>
            <a:srgbClr val="2A2A2C"/>
          </a:solidFill>
          <a:ln/>
        </p:spPr>
      </p:sp>
      <p:sp>
        <p:nvSpPr>
          <p:cNvPr id="11" name="Text 9"/>
          <p:cNvSpPr/>
          <p:nvPr/>
        </p:nvSpPr>
        <p:spPr>
          <a:xfrm>
            <a:off x="868680" y="2267712"/>
            <a:ext cx="1097280" cy="201168"/>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FRAMING</a:t>
            </a:r>
            <a:endParaRPr lang="en-US" sz="900" dirty="0"/>
          </a:p>
        </p:txBody>
      </p:sp>
      <p:sp>
        <p:nvSpPr>
          <p:cNvPr id="12" name="Text 10"/>
          <p:cNvSpPr/>
          <p:nvPr/>
        </p:nvSpPr>
        <p:spPr>
          <a:xfrm>
            <a:off x="868680" y="2468880"/>
            <a:ext cx="7406640" cy="329184"/>
          </a:xfrm>
          <a:prstGeom prst="rect">
            <a:avLst/>
          </a:prstGeom>
          <a:noFill/>
          <a:ln/>
        </p:spPr>
        <p:txBody>
          <a:bodyPr wrap="square" lIns="0" tIns="0" rIns="0" bIns="0" rtlCol="0" anchor="ctr"/>
          <a:lstStyle/>
          <a:p>
            <a:pPr indent="0" marL="0">
              <a:buNone/>
            </a:pPr>
            <a:r>
              <a:rPr lang="en-US" sz="1200" dirty="0">
                <a:solidFill>
                  <a:srgbClr val="FAF9F6"/>
                </a:solidFill>
                <a:latin typeface="Calibri" pitchFamily="34" charset="0"/>
                <a:ea typeface="Calibri" pitchFamily="34" charset="-122"/>
                <a:cs typeface="Calibri" pitchFamily="34" charset="-120"/>
              </a:rPr>
              <a:t>The paper frames LLMs as “collaborators.” Is this the right metaphor, or are they more like “tools”? What’s at stake in the framing?</a:t>
            </a:r>
            <a:endParaRPr lang="en-US" sz="1200" dirty="0"/>
          </a:p>
        </p:txBody>
      </p:sp>
      <p:sp>
        <p:nvSpPr>
          <p:cNvPr id="13" name="Shape 11"/>
          <p:cNvSpPr/>
          <p:nvPr/>
        </p:nvSpPr>
        <p:spPr>
          <a:xfrm>
            <a:off x="640080" y="2971800"/>
            <a:ext cx="7863840" cy="658368"/>
          </a:xfrm>
          <a:prstGeom prst="rect">
            <a:avLst/>
          </a:prstGeom>
          <a:solidFill>
            <a:srgbClr val="2A2A2C"/>
          </a:solidFill>
          <a:ln/>
        </p:spPr>
      </p:sp>
      <p:sp>
        <p:nvSpPr>
          <p:cNvPr id="14" name="Text 12"/>
          <p:cNvSpPr/>
          <p:nvPr/>
        </p:nvSpPr>
        <p:spPr>
          <a:xfrm>
            <a:off x="868680" y="3044952"/>
            <a:ext cx="1097280" cy="201168"/>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METHOD</a:t>
            </a:r>
            <a:endParaRPr lang="en-US" sz="900" dirty="0"/>
          </a:p>
        </p:txBody>
      </p:sp>
      <p:sp>
        <p:nvSpPr>
          <p:cNvPr id="15" name="Text 13"/>
          <p:cNvSpPr/>
          <p:nvPr/>
        </p:nvSpPr>
        <p:spPr>
          <a:xfrm>
            <a:off x="868680" y="3246120"/>
            <a:ext cx="7406640" cy="329184"/>
          </a:xfrm>
          <a:prstGeom prst="rect">
            <a:avLst/>
          </a:prstGeom>
          <a:noFill/>
          <a:ln/>
        </p:spPr>
        <p:txBody>
          <a:bodyPr wrap="square" lIns="0" tIns="0" rIns="0" bIns="0" rtlCol="0" anchor="ctr"/>
          <a:lstStyle/>
          <a:p>
            <a:pPr indent="0" marL="0">
              <a:buNone/>
            </a:pPr>
            <a:r>
              <a:rPr lang="en-US" sz="1200" dirty="0">
                <a:solidFill>
                  <a:srgbClr val="FAF9F6"/>
                </a:solidFill>
                <a:latin typeface="Calibri" pitchFamily="34" charset="0"/>
                <a:ea typeface="Calibri" pitchFamily="34" charset="-122"/>
                <a:cs typeface="Calibri" pitchFamily="34" charset="-120"/>
              </a:rPr>
              <a:t>Demographics explain little variance in preferences — what should synthetic persona construction be based on instead?</a:t>
            </a:r>
            <a:endParaRPr lang="en-US" sz="1200" dirty="0"/>
          </a:p>
        </p:txBody>
      </p:sp>
      <p:sp>
        <p:nvSpPr>
          <p:cNvPr id="16" name="Shape 14"/>
          <p:cNvSpPr/>
          <p:nvPr/>
        </p:nvSpPr>
        <p:spPr>
          <a:xfrm>
            <a:off x="640080" y="3749040"/>
            <a:ext cx="7863840" cy="658368"/>
          </a:xfrm>
          <a:prstGeom prst="rect">
            <a:avLst/>
          </a:prstGeom>
          <a:solidFill>
            <a:srgbClr val="2A2A2C"/>
          </a:solidFill>
          <a:ln/>
        </p:spPr>
      </p:sp>
      <p:sp>
        <p:nvSpPr>
          <p:cNvPr id="17" name="Text 15"/>
          <p:cNvSpPr/>
          <p:nvPr/>
        </p:nvSpPr>
        <p:spPr>
          <a:xfrm>
            <a:off x="868680" y="3822192"/>
            <a:ext cx="1097280" cy="201168"/>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APPLICATION</a:t>
            </a:r>
            <a:endParaRPr lang="en-US" sz="900" dirty="0"/>
          </a:p>
        </p:txBody>
      </p:sp>
      <p:sp>
        <p:nvSpPr>
          <p:cNvPr id="18" name="Text 16"/>
          <p:cNvSpPr/>
          <p:nvPr/>
        </p:nvSpPr>
        <p:spPr>
          <a:xfrm>
            <a:off x="868680" y="4023360"/>
            <a:ext cx="7406640" cy="329184"/>
          </a:xfrm>
          <a:prstGeom prst="rect">
            <a:avLst/>
          </a:prstGeom>
          <a:noFill/>
          <a:ln/>
        </p:spPr>
        <p:txBody>
          <a:bodyPr wrap="square" lIns="0" tIns="0" rIns="0" bIns="0" rtlCol="0" anchor="ctr"/>
          <a:lstStyle/>
          <a:p>
            <a:pPr indent="0" marL="0">
              <a:buNone/>
            </a:pPr>
            <a:r>
              <a:rPr lang="en-US" sz="1200" dirty="0">
                <a:solidFill>
                  <a:srgbClr val="FAF9F6"/>
                </a:solidFill>
                <a:latin typeface="Calibri" pitchFamily="34" charset="0"/>
                <a:ea typeface="Calibri" pitchFamily="34" charset="-122"/>
                <a:cs typeface="Calibri" pitchFamily="34" charset="-120"/>
              </a:rPr>
              <a:t>Where in your own research could a human–LLM hybrid add the most value? Where would it be most dangerous?</a:t>
            </a:r>
            <a:endParaRPr lang="en-US" sz="1200" dirty="0"/>
          </a:p>
        </p:txBody>
      </p:sp>
      <p:sp>
        <p:nvSpPr>
          <p:cNvPr id="19" name="Shape 17"/>
          <p:cNvSpPr/>
          <p:nvPr/>
        </p:nvSpPr>
        <p:spPr>
          <a:xfrm>
            <a:off x="640080" y="4617720"/>
            <a:ext cx="7863840" cy="0"/>
          </a:xfrm>
          <a:prstGeom prst="line">
            <a:avLst/>
          </a:prstGeom>
          <a:noFill/>
          <a:ln w="6350">
            <a:solidFill>
              <a:srgbClr val="D4AF37"/>
            </a:solidFill>
            <a:prstDash val="solid"/>
          </a:ln>
        </p:spPr>
      </p:sp>
      <p:sp>
        <p:nvSpPr>
          <p:cNvPr id="20" name="Text 18"/>
          <p:cNvSpPr/>
          <p:nvPr/>
        </p:nvSpPr>
        <p:spPr>
          <a:xfrm>
            <a:off x="640080" y="4681728"/>
            <a:ext cx="7863840" cy="228600"/>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Bella Kang  ·  MKT 397.4  ·  Session 7: Doing Research with Generative AI</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AI-Human Hybrids for Marketing Research — Discussion Lead</dc:title>
  <dc:subject>PptxGenJS Presentation</dc:subject>
  <dc:creator>Bella Kang</dc:creator>
  <cp:lastModifiedBy>Bella Kang</cp:lastModifiedBy>
  <cp:revision>1</cp:revision>
  <dcterms:created xsi:type="dcterms:W3CDTF">2026-02-25T13:23:43Z</dcterms:created>
  <dcterms:modified xsi:type="dcterms:W3CDTF">2026-02-25T13:23:43Z</dcterms:modified>
</cp:coreProperties>
</file>